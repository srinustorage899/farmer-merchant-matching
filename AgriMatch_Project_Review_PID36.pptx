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5486400" cy="365760"/>
          </a:xfrm>
          <a:prstGeom prst="rect">
            <a:avLst/>
          </a:prstGeom>
          <a:noFill/>
        </p:spPr>
        <p:txBody>
          <a:bodyPr wrap="square">
            <a:spAutoFit/>
          </a:bodyPr>
          <a:lstStyle/>
          <a:p>
            <a:pPr algn="l">
              <a:defRPr sz="1400" b="0">
                <a:solidFill>
                  <a:srgbClr val="CCCCCC"/>
                </a:solidFill>
                <a:latin typeface="Calibri"/>
              </a:defRPr>
            </a:pPr>
            <a:r>
              <a:t>160122733305 – POTHARAJU SRINIVAS</a:t>
            </a:r>
          </a:p>
        </p:txBody>
      </p:sp>
      <p:sp>
        <p:nvSpPr>
          <p:cNvPr id="4" name="TextBox 3"/>
          <p:cNvSpPr txBox="1"/>
          <p:nvPr/>
        </p:nvSpPr>
        <p:spPr>
          <a:xfrm>
            <a:off x="548640" y="685800"/>
            <a:ext cx="5486400" cy="365760"/>
          </a:xfrm>
          <a:prstGeom prst="rect">
            <a:avLst/>
          </a:prstGeom>
          <a:noFill/>
        </p:spPr>
        <p:txBody>
          <a:bodyPr wrap="square">
            <a:spAutoFit/>
          </a:bodyPr>
          <a:lstStyle/>
          <a:p>
            <a:pPr algn="l">
              <a:defRPr sz="1400" b="0">
                <a:solidFill>
                  <a:srgbClr val="CCCCCC"/>
                </a:solidFill>
                <a:latin typeface="Calibri"/>
              </a:defRPr>
            </a:pPr>
            <a:r>
              <a:t>160122733302 – ENDRAVATH KRISHNA</a:t>
            </a:r>
          </a:p>
        </p:txBody>
      </p:sp>
      <p:sp>
        <p:nvSpPr>
          <p:cNvPr id="5" name="TextBox 4"/>
          <p:cNvSpPr txBox="1"/>
          <p:nvPr/>
        </p:nvSpPr>
        <p:spPr>
          <a:xfrm>
            <a:off x="7772400" y="365760"/>
            <a:ext cx="4114800" cy="365760"/>
          </a:xfrm>
          <a:prstGeom prst="rect">
            <a:avLst/>
          </a:prstGeom>
          <a:noFill/>
        </p:spPr>
        <p:txBody>
          <a:bodyPr wrap="square">
            <a:spAutoFit/>
          </a:bodyPr>
          <a:lstStyle/>
          <a:p>
            <a:pPr algn="r">
              <a:defRPr sz="1200" b="0">
                <a:solidFill>
                  <a:srgbClr val="9999AA"/>
                </a:solidFill>
                <a:latin typeface="Calibri"/>
              </a:defRPr>
            </a:pPr>
            <a:r>
              <a:t>Supervisor</a:t>
            </a:r>
          </a:p>
        </p:txBody>
      </p:sp>
      <p:sp>
        <p:nvSpPr>
          <p:cNvPr id="6" name="TextBox 5"/>
          <p:cNvSpPr txBox="1"/>
          <p:nvPr/>
        </p:nvSpPr>
        <p:spPr>
          <a:xfrm>
            <a:off x="7772400" y="640080"/>
            <a:ext cx="4114800" cy="365760"/>
          </a:xfrm>
          <a:prstGeom prst="rect">
            <a:avLst/>
          </a:prstGeom>
          <a:noFill/>
        </p:spPr>
        <p:txBody>
          <a:bodyPr wrap="square">
            <a:spAutoFit/>
          </a:bodyPr>
          <a:lstStyle/>
          <a:p>
            <a:pPr algn="r">
              <a:defRPr sz="1400" b="1">
                <a:solidFill>
                  <a:srgbClr val="00C9A7"/>
                </a:solidFill>
                <a:latin typeface="Calibri"/>
              </a:defRPr>
            </a:pPr>
            <a:r>
              <a:t>DR. M SWAMY DAS</a:t>
            </a:r>
          </a:p>
        </p:txBody>
      </p:sp>
      <p:sp>
        <p:nvSpPr>
          <p:cNvPr id="7" name="TextBox 6"/>
          <p:cNvSpPr txBox="1"/>
          <p:nvPr/>
        </p:nvSpPr>
        <p:spPr>
          <a:xfrm>
            <a:off x="548640" y="1097280"/>
            <a:ext cx="2743200" cy="365760"/>
          </a:xfrm>
          <a:prstGeom prst="rect">
            <a:avLst/>
          </a:prstGeom>
          <a:noFill/>
        </p:spPr>
        <p:txBody>
          <a:bodyPr wrap="square">
            <a:spAutoFit/>
          </a:bodyPr>
          <a:lstStyle/>
          <a:p>
            <a:pPr algn="l">
              <a:defRPr sz="1400" b="1">
                <a:solidFill>
                  <a:srgbClr val="FF8C00"/>
                </a:solidFill>
                <a:latin typeface="Calibri"/>
              </a:defRPr>
            </a:pPr>
            <a:r>
              <a:t>PID - 36</a:t>
            </a:r>
          </a:p>
        </p:txBody>
      </p:sp>
      <p:sp>
        <p:nvSpPr>
          <p:cNvPr id="8" name="TextBox 7"/>
          <p:cNvSpPr txBox="1"/>
          <p:nvPr/>
        </p:nvSpPr>
        <p:spPr>
          <a:xfrm>
            <a:off x="731520" y="2286000"/>
            <a:ext cx="10515600" cy="2011680"/>
          </a:xfrm>
          <a:prstGeom prst="rect">
            <a:avLst/>
          </a:prstGeom>
          <a:noFill/>
        </p:spPr>
        <p:txBody>
          <a:bodyPr wrap="square">
            <a:spAutoFit/>
          </a:bodyPr>
          <a:lstStyle/>
          <a:p>
            <a:pPr algn="ctr">
              <a:defRPr sz="4000" b="1">
                <a:solidFill>
                  <a:srgbClr val="FFFFFF"/>
                </a:solidFill>
                <a:latin typeface="Calibri Light"/>
              </a:defRPr>
            </a:pPr>
            <a:r>
              <a:t>AgriMatch: HNSW-Powered Farmer-Merchant</a:t>
            </a:r>
            <a:br/>
            <a:r>
              <a:t>Matching Platform</a:t>
            </a:r>
          </a:p>
        </p:txBody>
      </p:sp>
      <p:sp>
        <p:nvSpPr>
          <p:cNvPr id="9" name="TextBox 8"/>
          <p:cNvSpPr txBox="1"/>
          <p:nvPr/>
        </p:nvSpPr>
        <p:spPr>
          <a:xfrm>
            <a:off x="1371600" y="4297680"/>
            <a:ext cx="9144000" cy="731520"/>
          </a:xfrm>
          <a:prstGeom prst="rect">
            <a:avLst/>
          </a:prstGeom>
          <a:noFill/>
        </p:spPr>
        <p:txBody>
          <a:bodyPr wrap="square">
            <a:spAutoFit/>
          </a:bodyPr>
          <a:lstStyle/>
          <a:p>
            <a:pPr algn="ctr">
              <a:defRPr sz="1500" b="0">
                <a:solidFill>
                  <a:srgbClr val="CCCCCC"/>
                </a:solidFill>
                <a:latin typeface="Calibri"/>
              </a:defRPr>
            </a:pPr>
            <a:r>
              <a:t>A high-performance agricultural marketplace using Hierarchical Navigable Small World graphs for real-time vector similarity matching between farmers and merchants</a:t>
            </a:r>
          </a:p>
        </p:txBody>
      </p:sp>
      <p:sp>
        <p:nvSpPr>
          <p:cNvPr id="10" name="Rectangle 9"/>
          <p:cNvSpPr/>
          <p:nvPr/>
        </p:nvSpPr>
        <p:spPr>
          <a:xfrm>
            <a:off x="5029200" y="4114800"/>
            <a:ext cx="210312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01168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5303520"/>
            <a:ext cx="1280160" cy="347472"/>
          </a:xfrm>
          <a:prstGeom prst="rect">
            <a:avLst/>
          </a:prstGeom>
          <a:noFill/>
        </p:spPr>
        <p:txBody>
          <a:bodyPr wrap="square">
            <a:spAutoFit/>
          </a:bodyPr>
          <a:lstStyle/>
          <a:p>
            <a:pPr algn="ctr">
              <a:defRPr sz="1100" b="0">
                <a:solidFill>
                  <a:srgbClr val="00C9A7"/>
                </a:solidFill>
                <a:latin typeface="Calibri"/>
              </a:defRPr>
            </a:pPr>
            <a:r>
              <a:t>FastAPI</a:t>
            </a:r>
          </a:p>
        </p:txBody>
      </p:sp>
      <p:sp>
        <p:nvSpPr>
          <p:cNvPr id="13" name="Rectangle 12"/>
          <p:cNvSpPr/>
          <p:nvPr/>
        </p:nvSpPr>
        <p:spPr>
          <a:xfrm>
            <a:off x="347472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5303520"/>
            <a:ext cx="1280160" cy="347472"/>
          </a:xfrm>
          <a:prstGeom prst="rect">
            <a:avLst/>
          </a:prstGeom>
          <a:noFill/>
        </p:spPr>
        <p:txBody>
          <a:bodyPr wrap="square">
            <a:spAutoFit/>
          </a:bodyPr>
          <a:lstStyle/>
          <a:p>
            <a:pPr algn="ctr">
              <a:defRPr sz="1100" b="0">
                <a:solidFill>
                  <a:srgbClr val="00C9A7"/>
                </a:solidFill>
                <a:latin typeface="Calibri"/>
              </a:defRPr>
            </a:pPr>
            <a:r>
              <a:t>React.js</a:t>
            </a:r>
          </a:p>
        </p:txBody>
      </p:sp>
      <p:sp>
        <p:nvSpPr>
          <p:cNvPr id="15" name="Rectangle 14"/>
          <p:cNvSpPr/>
          <p:nvPr/>
        </p:nvSpPr>
        <p:spPr>
          <a:xfrm>
            <a:off x="493776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5303520"/>
            <a:ext cx="1280160" cy="347472"/>
          </a:xfrm>
          <a:prstGeom prst="rect">
            <a:avLst/>
          </a:prstGeom>
          <a:noFill/>
        </p:spPr>
        <p:txBody>
          <a:bodyPr wrap="square">
            <a:spAutoFit/>
          </a:bodyPr>
          <a:lstStyle/>
          <a:p>
            <a:pPr algn="ctr">
              <a:defRPr sz="1100" b="0">
                <a:solidFill>
                  <a:srgbClr val="00C9A7"/>
                </a:solidFill>
                <a:latin typeface="Calibri"/>
              </a:defRPr>
            </a:pPr>
            <a:r>
              <a:t>MongoDB</a:t>
            </a:r>
          </a:p>
        </p:txBody>
      </p:sp>
      <p:sp>
        <p:nvSpPr>
          <p:cNvPr id="17" name="Rectangle 16"/>
          <p:cNvSpPr/>
          <p:nvPr/>
        </p:nvSpPr>
        <p:spPr>
          <a:xfrm>
            <a:off x="640080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5303520"/>
            <a:ext cx="1280160" cy="347472"/>
          </a:xfrm>
          <a:prstGeom prst="rect">
            <a:avLst/>
          </a:prstGeom>
          <a:noFill/>
        </p:spPr>
        <p:txBody>
          <a:bodyPr wrap="square">
            <a:spAutoFit/>
          </a:bodyPr>
          <a:lstStyle/>
          <a:p>
            <a:pPr algn="ctr">
              <a:defRPr sz="1100" b="0">
                <a:solidFill>
                  <a:srgbClr val="00C9A7"/>
                </a:solidFill>
                <a:latin typeface="Calibri"/>
              </a:defRPr>
            </a:pPr>
            <a:r>
              <a:t>Redis</a:t>
            </a:r>
          </a:p>
        </p:txBody>
      </p:sp>
      <p:sp>
        <p:nvSpPr>
          <p:cNvPr id="19" name="Rectangle 18"/>
          <p:cNvSpPr/>
          <p:nvPr/>
        </p:nvSpPr>
        <p:spPr>
          <a:xfrm>
            <a:off x="786384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5303520"/>
            <a:ext cx="1280160" cy="347472"/>
          </a:xfrm>
          <a:prstGeom prst="rect">
            <a:avLst/>
          </a:prstGeom>
          <a:noFill/>
        </p:spPr>
        <p:txBody>
          <a:bodyPr wrap="square">
            <a:spAutoFit/>
          </a:bodyPr>
          <a:lstStyle/>
          <a:p>
            <a:pPr algn="ctr">
              <a:defRPr sz="1100" b="0">
                <a:solidFill>
                  <a:srgbClr val="00C9A7"/>
                </a:solidFill>
                <a:latin typeface="Calibri"/>
              </a:defRPr>
            </a:pPr>
            <a:r>
              <a:t>HNSW (hnswlib)</a:t>
            </a:r>
          </a:p>
        </p:txBody>
      </p:sp>
      <p:sp>
        <p:nvSpPr>
          <p:cNvPr id="21" name="Rectangle 20"/>
          <p:cNvSpPr/>
          <p:nvPr/>
        </p:nvSpPr>
        <p:spPr>
          <a:xfrm>
            <a:off x="9326880" y="5303520"/>
            <a:ext cx="1280160" cy="347472"/>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5303520"/>
            <a:ext cx="1280160" cy="347472"/>
          </a:xfrm>
          <a:prstGeom prst="rect">
            <a:avLst/>
          </a:prstGeom>
          <a:noFill/>
        </p:spPr>
        <p:txBody>
          <a:bodyPr wrap="square">
            <a:spAutoFit/>
          </a:bodyPr>
          <a:lstStyle/>
          <a:p>
            <a:pPr algn="ctr">
              <a:defRPr sz="1100" b="0">
                <a:solidFill>
                  <a:srgbClr val="00C9A7"/>
                </a:solidFill>
                <a:latin typeface="Calibri"/>
              </a:defRPr>
            </a:pPr>
            <a:r>
              <a:t>Docker</a:t>
            </a:r>
          </a:p>
        </p:txBody>
      </p:sp>
      <p:sp>
        <p:nvSpPr>
          <p:cNvPr id="23" name="Rectangle 22"/>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0" cy="548640"/>
          </a:xfrm>
          <a:prstGeom prst="rect">
            <a:avLst/>
          </a:prstGeom>
          <a:noFill/>
        </p:spPr>
        <p:txBody>
          <a:bodyPr wrap="square">
            <a:spAutoFit/>
          </a:bodyPr>
          <a:lstStyle/>
          <a:p>
            <a:pPr algn="l">
              <a:defRPr sz="3200" b="1">
                <a:solidFill>
                  <a:srgbClr val="FFFFFF"/>
                </a:solidFill>
                <a:latin typeface="Calibri"/>
              </a:defRPr>
            </a:pPr>
            <a:r>
              <a:t>Problem Statement</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10972800" cy="4937760"/>
          </a:xfrm>
          <a:prstGeom prst="rect">
            <a:avLst/>
          </a:prstGeom>
          <a:solidFill>
            <a:srgbClr val="24243E"/>
          </a:solidFill>
          <a:ln w="1905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4572000"/>
          </a:xfrm>
          <a:prstGeom prst="rect">
            <a:avLst/>
          </a:prstGeom>
          <a:noFill/>
        </p:spPr>
        <p:txBody>
          <a:bodyPr wrap="square">
            <a:spAutoFit/>
          </a:bodyPr>
          <a:lstStyle/>
          <a:p>
            <a:pPr>
              <a:lnSpc>
                <a:spcPts val="2800"/>
              </a:lnSpc>
              <a:defRPr sz="1700">
                <a:solidFill>
                  <a:srgbClr val="CCCCCC"/>
                </a:solidFill>
                <a:latin typeface="Calibri"/>
              </a:defRPr>
            </a:pPr>
            <a:r>
              <a:t>Indian agriculture remains heavily dependent on intermediary-driven supply chains, where farmers receive only a fraction of the final selling price. The absence of a direct digital platform connecting farmers with merchants leads to significant price inefficiencies — farmers cannot access fair market rates, while merchants face inflated procurement costs.</a:t>
            </a:r>
          </a:p>
          <a:p>
            <a:pPr algn="l">
              <a:spcBef>
                <a:spcPts val="600"/>
              </a:spcBef>
              <a:defRPr sz="800" b="0">
                <a:solidFill>
                  <a:srgbClr val="FFFFFF"/>
                </a:solidFill>
                <a:latin typeface="Calibri"/>
              </a:defRPr>
            </a:pPr>
          </a:p>
          <a:p>
            <a:pPr algn="l">
              <a:spcBef>
                <a:spcPts val="600"/>
              </a:spcBef>
              <a:defRPr sz="1700" b="0">
                <a:solidFill>
                  <a:srgbClr val="CCCCCC"/>
                </a:solidFill>
                <a:latin typeface="Calibri"/>
              </a:defRPr>
            </a:pPr>
            <a:r>
              <a:t>Furthermore, existing agricultural marketplaces lack intelligent matching capabilities that consider multiple factors such as crop type, quantity, pricing, quality, and geographical proximity simultaneously. This gap results in suboptimal trade pairings, increased transportation costs, and missed opportunities for both parties.</a:t>
            </a:r>
          </a:p>
          <a:p>
            <a:pPr algn="l">
              <a:spcBef>
                <a:spcPts val="600"/>
              </a:spcBef>
              <a:defRPr sz="800" b="0">
                <a:solidFill>
                  <a:srgbClr val="FFFFFF"/>
                </a:solidFill>
                <a:latin typeface="Calibri"/>
              </a:defRPr>
            </a:pPr>
          </a:p>
          <a:p>
            <a:pPr algn="l">
              <a:spcBef>
                <a:spcPts val="600"/>
              </a:spcBef>
              <a:defRPr sz="1700" b="0">
                <a:solidFill>
                  <a:srgbClr val="CCCCCC"/>
                </a:solidFill>
                <a:latin typeface="Calibri"/>
              </a:defRPr>
            </a:pPr>
            <a:r>
              <a:t>Moreover, the lack of integration with government-mandated Minimum Support Prices (MSP) means farmers often sell below fair rates without any system-level safeguard. The current ecosystem offers no mechanism for real-time, proximity-aware matching that could optimize logistics and minimize wastage — contributing to large-scale economic loss and rural livelihood challenges.</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2/13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0" cy="548640"/>
          </a:xfrm>
          <a:prstGeom prst="rect">
            <a:avLst/>
          </a:prstGeom>
          <a:noFill/>
        </p:spPr>
        <p:txBody>
          <a:bodyPr wrap="square">
            <a:spAutoFit/>
          </a:bodyPr>
          <a:lstStyle/>
          <a:p>
            <a:pPr algn="l">
              <a:defRPr sz="3200" b="1">
                <a:solidFill>
                  <a:srgbClr val="FFFFFF"/>
                </a:solidFill>
                <a:latin typeface="Calibri"/>
              </a:defRPr>
            </a:pPr>
            <a:r>
              <a:t>Design — System Flow</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4572000" cy="457200"/>
          </a:xfrm>
          <a:prstGeom prst="rect">
            <a:avLst/>
          </a:prstGeom>
          <a:noFill/>
        </p:spPr>
        <p:txBody>
          <a:bodyPr wrap="square">
            <a:spAutoFit/>
          </a:bodyPr>
          <a:lstStyle/>
          <a:p>
            <a:pPr algn="l">
              <a:defRPr sz="2000" b="1">
                <a:solidFill>
                  <a:srgbClr val="00C9A7"/>
                </a:solidFill>
                <a:latin typeface="Calibri"/>
              </a:defRPr>
            </a:pPr>
            <a:r>
              <a:t>🌾  Farmer Upload Flow</a:t>
            </a:r>
          </a:p>
        </p:txBody>
      </p:sp>
      <p:sp>
        <p:nvSpPr>
          <p:cNvPr id="6" name="Rectangle 5"/>
          <p:cNvSpPr/>
          <p:nvPr/>
        </p:nvSpPr>
        <p:spPr>
          <a:xfrm>
            <a:off x="914400" y="182880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20040" cy="320040"/>
          </a:xfrm>
          <a:prstGeom prst="rect">
            <a:avLst/>
          </a:prstGeom>
          <a:noFill/>
        </p:spPr>
        <p:txBody>
          <a:bodyPr wrap="square">
            <a:spAutoFit/>
          </a:bodyPr>
          <a:lstStyle/>
          <a:p>
            <a:pPr algn="ctr">
              <a:defRPr sz="1200" b="1">
                <a:solidFill>
                  <a:srgbClr val="1B1B2F"/>
                </a:solidFill>
                <a:latin typeface="Calibri"/>
              </a:defRPr>
            </a:pPr>
            <a:r>
              <a:t>1</a:t>
            </a:r>
          </a:p>
        </p:txBody>
      </p:sp>
      <p:sp>
        <p:nvSpPr>
          <p:cNvPr id="8" name="TextBox 7"/>
          <p:cNvSpPr txBox="1"/>
          <p:nvPr/>
        </p:nvSpPr>
        <p:spPr>
          <a:xfrm>
            <a:off x="1371600" y="1828800"/>
            <a:ext cx="4572000" cy="320040"/>
          </a:xfrm>
          <a:prstGeom prst="rect">
            <a:avLst/>
          </a:prstGeom>
          <a:noFill/>
        </p:spPr>
        <p:txBody>
          <a:bodyPr wrap="square">
            <a:spAutoFit/>
          </a:bodyPr>
          <a:lstStyle/>
          <a:p>
            <a:pPr algn="l">
              <a:defRPr sz="1300" b="0">
                <a:solidFill>
                  <a:srgbClr val="CCCCCC"/>
                </a:solidFill>
                <a:latin typeface="Calibri"/>
              </a:defRPr>
            </a:pPr>
            <a:r>
              <a:t>Farmer opens Upload Crop page</a:t>
            </a:r>
          </a:p>
        </p:txBody>
      </p:sp>
      <p:sp>
        <p:nvSpPr>
          <p:cNvPr id="9" name="Rectangle 8"/>
          <p:cNvSpPr/>
          <p:nvPr/>
        </p:nvSpPr>
        <p:spPr>
          <a:xfrm>
            <a:off x="914400" y="233172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31720"/>
            <a:ext cx="320040" cy="320040"/>
          </a:xfrm>
          <a:prstGeom prst="rect">
            <a:avLst/>
          </a:prstGeom>
          <a:noFill/>
        </p:spPr>
        <p:txBody>
          <a:bodyPr wrap="square">
            <a:spAutoFit/>
          </a:bodyPr>
          <a:lstStyle/>
          <a:p>
            <a:pPr algn="ctr">
              <a:defRPr sz="1200" b="1">
                <a:solidFill>
                  <a:srgbClr val="1B1B2F"/>
                </a:solidFill>
                <a:latin typeface="Calibri"/>
              </a:defRPr>
            </a:pPr>
            <a:r>
              <a:t>2</a:t>
            </a:r>
          </a:p>
        </p:txBody>
      </p:sp>
      <p:sp>
        <p:nvSpPr>
          <p:cNvPr id="11" name="TextBox 10"/>
          <p:cNvSpPr txBox="1"/>
          <p:nvPr/>
        </p:nvSpPr>
        <p:spPr>
          <a:xfrm>
            <a:off x="1371600" y="2331720"/>
            <a:ext cx="4572000" cy="320040"/>
          </a:xfrm>
          <a:prstGeom prst="rect">
            <a:avLst/>
          </a:prstGeom>
          <a:noFill/>
        </p:spPr>
        <p:txBody>
          <a:bodyPr wrap="square">
            <a:spAutoFit/>
          </a:bodyPr>
          <a:lstStyle/>
          <a:p>
            <a:pPr algn="l">
              <a:defRPr sz="1300" b="0">
                <a:solidFill>
                  <a:srgbClr val="CCCCCC"/>
                </a:solidFill>
                <a:latin typeface="Calibri"/>
              </a:defRPr>
            </a:pPr>
            <a:r>
              <a:t>Enters crop, quantity, price + GPS auto-detected</a:t>
            </a:r>
          </a:p>
        </p:txBody>
      </p:sp>
      <p:sp>
        <p:nvSpPr>
          <p:cNvPr id="12" name="Rectangle 11"/>
          <p:cNvSpPr/>
          <p:nvPr/>
        </p:nvSpPr>
        <p:spPr>
          <a:xfrm>
            <a:off x="914400" y="283464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34640"/>
            <a:ext cx="320040" cy="320040"/>
          </a:xfrm>
          <a:prstGeom prst="rect">
            <a:avLst/>
          </a:prstGeom>
          <a:noFill/>
        </p:spPr>
        <p:txBody>
          <a:bodyPr wrap="square">
            <a:spAutoFit/>
          </a:bodyPr>
          <a:lstStyle/>
          <a:p>
            <a:pPr algn="ctr">
              <a:defRPr sz="1200" b="1">
                <a:solidFill>
                  <a:srgbClr val="1B1B2F"/>
                </a:solidFill>
                <a:latin typeface="Calibri"/>
              </a:defRPr>
            </a:pPr>
            <a:r>
              <a:t>3</a:t>
            </a:r>
          </a:p>
        </p:txBody>
      </p:sp>
      <p:sp>
        <p:nvSpPr>
          <p:cNvPr id="14" name="TextBox 13"/>
          <p:cNvSpPr txBox="1"/>
          <p:nvPr/>
        </p:nvSpPr>
        <p:spPr>
          <a:xfrm>
            <a:off x="1371600" y="2834640"/>
            <a:ext cx="4572000" cy="320040"/>
          </a:xfrm>
          <a:prstGeom prst="rect">
            <a:avLst/>
          </a:prstGeom>
          <a:noFill/>
        </p:spPr>
        <p:txBody>
          <a:bodyPr wrap="square">
            <a:spAutoFit/>
          </a:bodyPr>
          <a:lstStyle/>
          <a:p>
            <a:pPr algn="l">
              <a:defRPr sz="1300" b="0">
                <a:solidFill>
                  <a:srgbClr val="CCCCCC"/>
                </a:solidFill>
                <a:latin typeface="Calibri"/>
              </a:defRPr>
            </a:pPr>
            <a:r>
              <a:t>POST /api/farmer/upload → FastAPI</a:t>
            </a:r>
          </a:p>
        </p:txBody>
      </p:sp>
      <p:sp>
        <p:nvSpPr>
          <p:cNvPr id="15" name="Rectangle 14"/>
          <p:cNvSpPr/>
          <p:nvPr/>
        </p:nvSpPr>
        <p:spPr>
          <a:xfrm>
            <a:off x="914400" y="333756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37560"/>
            <a:ext cx="320040" cy="320040"/>
          </a:xfrm>
          <a:prstGeom prst="rect">
            <a:avLst/>
          </a:prstGeom>
          <a:noFill/>
        </p:spPr>
        <p:txBody>
          <a:bodyPr wrap="square">
            <a:spAutoFit/>
          </a:bodyPr>
          <a:lstStyle/>
          <a:p>
            <a:pPr algn="ctr">
              <a:defRPr sz="1200" b="1">
                <a:solidFill>
                  <a:srgbClr val="1B1B2F"/>
                </a:solidFill>
                <a:latin typeface="Calibri"/>
              </a:defRPr>
            </a:pPr>
            <a:r>
              <a:t>4</a:t>
            </a:r>
          </a:p>
        </p:txBody>
      </p:sp>
      <p:sp>
        <p:nvSpPr>
          <p:cNvPr id="17" name="TextBox 16"/>
          <p:cNvSpPr txBox="1"/>
          <p:nvPr/>
        </p:nvSpPr>
        <p:spPr>
          <a:xfrm>
            <a:off x="1371600" y="3337560"/>
            <a:ext cx="4572000" cy="320040"/>
          </a:xfrm>
          <a:prstGeom prst="rect">
            <a:avLst/>
          </a:prstGeom>
          <a:noFill/>
        </p:spPr>
        <p:txBody>
          <a:bodyPr wrap="square">
            <a:spAutoFit/>
          </a:bodyPr>
          <a:lstStyle/>
          <a:p>
            <a:pPr algn="l">
              <a:defRPr sz="1300" b="0">
                <a:solidFill>
                  <a:srgbClr val="CCCCCC"/>
                </a:solidFill>
                <a:latin typeface="Calibri"/>
              </a:defRPr>
            </a:pPr>
            <a:r>
              <a:t>Validated via Pydantic schemas</a:t>
            </a:r>
          </a:p>
        </p:txBody>
      </p:sp>
      <p:sp>
        <p:nvSpPr>
          <p:cNvPr id="18" name="Rectangle 17"/>
          <p:cNvSpPr/>
          <p:nvPr/>
        </p:nvSpPr>
        <p:spPr>
          <a:xfrm>
            <a:off x="914400" y="384048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840480"/>
            <a:ext cx="320040" cy="320040"/>
          </a:xfrm>
          <a:prstGeom prst="rect">
            <a:avLst/>
          </a:prstGeom>
          <a:noFill/>
        </p:spPr>
        <p:txBody>
          <a:bodyPr wrap="square">
            <a:spAutoFit/>
          </a:bodyPr>
          <a:lstStyle/>
          <a:p>
            <a:pPr algn="ctr">
              <a:defRPr sz="1200" b="1">
                <a:solidFill>
                  <a:srgbClr val="1B1B2F"/>
                </a:solidFill>
                <a:latin typeface="Calibri"/>
              </a:defRPr>
            </a:pPr>
            <a:r>
              <a:t>5</a:t>
            </a:r>
          </a:p>
        </p:txBody>
      </p:sp>
      <p:sp>
        <p:nvSpPr>
          <p:cNvPr id="20" name="TextBox 19"/>
          <p:cNvSpPr txBox="1"/>
          <p:nvPr/>
        </p:nvSpPr>
        <p:spPr>
          <a:xfrm>
            <a:off x="1371600" y="3840480"/>
            <a:ext cx="4572000" cy="320040"/>
          </a:xfrm>
          <a:prstGeom prst="rect">
            <a:avLst/>
          </a:prstGeom>
          <a:noFill/>
        </p:spPr>
        <p:txBody>
          <a:bodyPr wrap="square">
            <a:spAutoFit/>
          </a:bodyPr>
          <a:lstStyle/>
          <a:p>
            <a:pPr algn="l">
              <a:defRPr sz="1300" b="0">
                <a:solidFill>
                  <a:srgbClr val="CCCCCC"/>
                </a:solidFill>
                <a:latin typeface="Calibri"/>
              </a:defRPr>
            </a:pPr>
            <a:r>
              <a:t>Stored in MongoDB (listings collection)</a:t>
            </a:r>
          </a:p>
        </p:txBody>
      </p:sp>
      <p:sp>
        <p:nvSpPr>
          <p:cNvPr id="21" name="Rectangle 20"/>
          <p:cNvSpPr/>
          <p:nvPr/>
        </p:nvSpPr>
        <p:spPr>
          <a:xfrm>
            <a:off x="914400" y="434340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43400"/>
            <a:ext cx="320040" cy="320040"/>
          </a:xfrm>
          <a:prstGeom prst="rect">
            <a:avLst/>
          </a:prstGeom>
          <a:noFill/>
        </p:spPr>
        <p:txBody>
          <a:bodyPr wrap="square">
            <a:spAutoFit/>
          </a:bodyPr>
          <a:lstStyle/>
          <a:p>
            <a:pPr algn="ctr">
              <a:defRPr sz="1200" b="1">
                <a:solidFill>
                  <a:srgbClr val="1B1B2F"/>
                </a:solidFill>
                <a:latin typeface="Calibri"/>
              </a:defRPr>
            </a:pPr>
            <a:r>
              <a:t>6</a:t>
            </a:r>
          </a:p>
        </p:txBody>
      </p:sp>
      <p:sp>
        <p:nvSpPr>
          <p:cNvPr id="23" name="TextBox 22"/>
          <p:cNvSpPr txBox="1"/>
          <p:nvPr/>
        </p:nvSpPr>
        <p:spPr>
          <a:xfrm>
            <a:off x="1371600" y="4343400"/>
            <a:ext cx="4572000" cy="320040"/>
          </a:xfrm>
          <a:prstGeom prst="rect">
            <a:avLst/>
          </a:prstGeom>
          <a:noFill/>
        </p:spPr>
        <p:txBody>
          <a:bodyPr wrap="square">
            <a:spAutoFit/>
          </a:bodyPr>
          <a:lstStyle/>
          <a:p>
            <a:pPr algn="l">
              <a:defRPr sz="1300" b="0">
                <a:solidFill>
                  <a:srgbClr val="CCCCCC"/>
                </a:solidFill>
                <a:latin typeface="Calibri"/>
              </a:defRPr>
            </a:pPr>
            <a:r>
              <a:t>Listing ID pushed to Redis queue</a:t>
            </a:r>
          </a:p>
        </p:txBody>
      </p:sp>
      <p:sp>
        <p:nvSpPr>
          <p:cNvPr id="24" name="Rectangle 23"/>
          <p:cNvSpPr/>
          <p:nvPr/>
        </p:nvSpPr>
        <p:spPr>
          <a:xfrm>
            <a:off x="914400" y="484632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46320"/>
            <a:ext cx="320040" cy="320040"/>
          </a:xfrm>
          <a:prstGeom prst="rect">
            <a:avLst/>
          </a:prstGeom>
          <a:noFill/>
        </p:spPr>
        <p:txBody>
          <a:bodyPr wrap="square">
            <a:spAutoFit/>
          </a:bodyPr>
          <a:lstStyle/>
          <a:p>
            <a:pPr algn="ctr">
              <a:defRPr sz="1200" b="1">
                <a:solidFill>
                  <a:srgbClr val="1B1B2F"/>
                </a:solidFill>
                <a:latin typeface="Calibri"/>
              </a:defRPr>
            </a:pPr>
            <a:r>
              <a:t>7</a:t>
            </a:r>
          </a:p>
        </p:txBody>
      </p:sp>
      <p:sp>
        <p:nvSpPr>
          <p:cNvPr id="26" name="TextBox 25"/>
          <p:cNvSpPr txBox="1"/>
          <p:nvPr/>
        </p:nvSpPr>
        <p:spPr>
          <a:xfrm>
            <a:off x="1371600" y="4846320"/>
            <a:ext cx="4572000" cy="320040"/>
          </a:xfrm>
          <a:prstGeom prst="rect">
            <a:avLst/>
          </a:prstGeom>
          <a:noFill/>
        </p:spPr>
        <p:txBody>
          <a:bodyPr wrap="square">
            <a:spAutoFit/>
          </a:bodyPr>
          <a:lstStyle/>
          <a:p>
            <a:pPr algn="l">
              <a:defRPr sz="1300" b="0">
                <a:solidFill>
                  <a:srgbClr val="CCCCCC"/>
                </a:solidFill>
                <a:latin typeface="Calibri"/>
              </a:defRPr>
            </a:pPr>
            <a:r>
              <a:t>Background worker encodes 54-D vector</a:t>
            </a:r>
          </a:p>
        </p:txBody>
      </p:sp>
      <p:sp>
        <p:nvSpPr>
          <p:cNvPr id="27" name="Rectangle 26"/>
          <p:cNvSpPr/>
          <p:nvPr/>
        </p:nvSpPr>
        <p:spPr>
          <a:xfrm>
            <a:off x="914400" y="5349240"/>
            <a:ext cx="320040" cy="32004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349240"/>
            <a:ext cx="320040" cy="320040"/>
          </a:xfrm>
          <a:prstGeom prst="rect">
            <a:avLst/>
          </a:prstGeom>
          <a:noFill/>
        </p:spPr>
        <p:txBody>
          <a:bodyPr wrap="square">
            <a:spAutoFit/>
          </a:bodyPr>
          <a:lstStyle/>
          <a:p>
            <a:pPr algn="ctr">
              <a:defRPr sz="1200" b="1">
                <a:solidFill>
                  <a:srgbClr val="1B1B2F"/>
                </a:solidFill>
                <a:latin typeface="Calibri"/>
              </a:defRPr>
            </a:pPr>
            <a:r>
              <a:t>8</a:t>
            </a:r>
          </a:p>
        </p:txBody>
      </p:sp>
      <p:sp>
        <p:nvSpPr>
          <p:cNvPr id="29" name="TextBox 28"/>
          <p:cNvSpPr txBox="1"/>
          <p:nvPr/>
        </p:nvSpPr>
        <p:spPr>
          <a:xfrm>
            <a:off x="1371600" y="5349240"/>
            <a:ext cx="4572000" cy="320040"/>
          </a:xfrm>
          <a:prstGeom prst="rect">
            <a:avLst/>
          </a:prstGeom>
          <a:noFill/>
        </p:spPr>
        <p:txBody>
          <a:bodyPr wrap="square">
            <a:spAutoFit/>
          </a:bodyPr>
          <a:lstStyle/>
          <a:p>
            <a:pPr algn="l">
              <a:defRPr sz="1300" b="0">
                <a:solidFill>
                  <a:srgbClr val="CCCCCC"/>
                </a:solidFill>
                <a:latin typeface="Calibri"/>
              </a:defRPr>
            </a:pPr>
            <a:r>
              <a:t>Inserted into per-crop HNSW index</a:t>
            </a:r>
          </a:p>
        </p:txBody>
      </p:sp>
      <p:sp>
        <p:nvSpPr>
          <p:cNvPr id="30" name="TextBox 29"/>
          <p:cNvSpPr txBox="1"/>
          <p:nvPr/>
        </p:nvSpPr>
        <p:spPr>
          <a:xfrm>
            <a:off x="5669280" y="3200400"/>
            <a:ext cx="731520" cy="914400"/>
          </a:xfrm>
          <a:prstGeom prst="rect">
            <a:avLst/>
          </a:prstGeom>
          <a:noFill/>
        </p:spPr>
        <p:txBody>
          <a:bodyPr wrap="square">
            <a:spAutoFit/>
          </a:bodyPr>
          <a:lstStyle/>
          <a:p>
            <a:pPr algn="ctr">
              <a:defRPr sz="4800" b="0">
                <a:solidFill>
                  <a:srgbClr val="00C9A7"/>
                </a:solidFill>
                <a:latin typeface="Calibri"/>
              </a:defRPr>
            </a:pPr>
            <a:r>
              <a:t>→</a:t>
            </a:r>
          </a:p>
        </p:txBody>
      </p:sp>
      <p:sp>
        <p:nvSpPr>
          <p:cNvPr id="31" name="TextBox 30"/>
          <p:cNvSpPr txBox="1"/>
          <p:nvPr/>
        </p:nvSpPr>
        <p:spPr>
          <a:xfrm>
            <a:off x="6583680" y="1280160"/>
            <a:ext cx="5029200" cy="457200"/>
          </a:xfrm>
          <a:prstGeom prst="rect">
            <a:avLst/>
          </a:prstGeom>
          <a:noFill/>
        </p:spPr>
        <p:txBody>
          <a:bodyPr wrap="square">
            <a:spAutoFit/>
          </a:bodyPr>
          <a:lstStyle/>
          <a:p>
            <a:pPr algn="l">
              <a:defRPr sz="2000" b="1">
                <a:solidFill>
                  <a:srgbClr val="4F9DF7"/>
                </a:solidFill>
                <a:latin typeface="Calibri"/>
              </a:defRPr>
            </a:pPr>
            <a:r>
              <a:t>🔍  Merchant Search Flow</a:t>
            </a:r>
          </a:p>
        </p:txBody>
      </p:sp>
      <p:sp>
        <p:nvSpPr>
          <p:cNvPr id="32" name="Rectangle 31"/>
          <p:cNvSpPr/>
          <p:nvPr/>
        </p:nvSpPr>
        <p:spPr>
          <a:xfrm>
            <a:off x="6766560" y="182880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0" y="1828800"/>
            <a:ext cx="320040" cy="320040"/>
          </a:xfrm>
          <a:prstGeom prst="rect">
            <a:avLst/>
          </a:prstGeom>
          <a:noFill/>
        </p:spPr>
        <p:txBody>
          <a:bodyPr wrap="square">
            <a:spAutoFit/>
          </a:bodyPr>
          <a:lstStyle/>
          <a:p>
            <a:pPr algn="ctr">
              <a:defRPr sz="1200" b="1">
                <a:solidFill>
                  <a:srgbClr val="1B1B2F"/>
                </a:solidFill>
                <a:latin typeface="Calibri"/>
              </a:defRPr>
            </a:pPr>
            <a:r>
              <a:t>1</a:t>
            </a:r>
          </a:p>
        </p:txBody>
      </p:sp>
      <p:sp>
        <p:nvSpPr>
          <p:cNvPr id="34" name="TextBox 33"/>
          <p:cNvSpPr txBox="1"/>
          <p:nvPr/>
        </p:nvSpPr>
        <p:spPr>
          <a:xfrm>
            <a:off x="7223760" y="1828800"/>
            <a:ext cx="4572000" cy="320040"/>
          </a:xfrm>
          <a:prstGeom prst="rect">
            <a:avLst/>
          </a:prstGeom>
          <a:noFill/>
        </p:spPr>
        <p:txBody>
          <a:bodyPr wrap="square">
            <a:spAutoFit/>
          </a:bodyPr>
          <a:lstStyle/>
          <a:p>
            <a:pPr algn="l">
              <a:defRPr sz="1300" b="0">
                <a:solidFill>
                  <a:srgbClr val="CCCCCC"/>
                </a:solidFill>
                <a:latin typeface="Calibri"/>
              </a:defRPr>
            </a:pPr>
            <a:r>
              <a:t>Merchant opens Find Farmers page</a:t>
            </a:r>
          </a:p>
        </p:txBody>
      </p:sp>
      <p:sp>
        <p:nvSpPr>
          <p:cNvPr id="35" name="Rectangle 34"/>
          <p:cNvSpPr/>
          <p:nvPr/>
        </p:nvSpPr>
        <p:spPr>
          <a:xfrm>
            <a:off x="6766560" y="233172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2331720"/>
            <a:ext cx="320040" cy="320040"/>
          </a:xfrm>
          <a:prstGeom prst="rect">
            <a:avLst/>
          </a:prstGeom>
          <a:noFill/>
        </p:spPr>
        <p:txBody>
          <a:bodyPr wrap="square">
            <a:spAutoFit/>
          </a:bodyPr>
          <a:lstStyle/>
          <a:p>
            <a:pPr algn="ctr">
              <a:defRPr sz="1200" b="1">
                <a:solidFill>
                  <a:srgbClr val="1B1B2F"/>
                </a:solidFill>
                <a:latin typeface="Calibri"/>
              </a:defRPr>
            </a:pPr>
            <a:r>
              <a:t>2</a:t>
            </a:r>
          </a:p>
        </p:txBody>
      </p:sp>
      <p:sp>
        <p:nvSpPr>
          <p:cNvPr id="37" name="TextBox 36"/>
          <p:cNvSpPr txBox="1"/>
          <p:nvPr/>
        </p:nvSpPr>
        <p:spPr>
          <a:xfrm>
            <a:off x="7223760" y="2331720"/>
            <a:ext cx="4572000" cy="320040"/>
          </a:xfrm>
          <a:prstGeom prst="rect">
            <a:avLst/>
          </a:prstGeom>
          <a:noFill/>
        </p:spPr>
        <p:txBody>
          <a:bodyPr wrap="square">
            <a:spAutoFit/>
          </a:bodyPr>
          <a:lstStyle/>
          <a:p>
            <a:pPr algn="l">
              <a:defRPr sz="1300" b="0">
                <a:solidFill>
                  <a:srgbClr val="CCCCCC"/>
                </a:solidFill>
                <a:latin typeface="Calibri"/>
              </a:defRPr>
            </a:pPr>
            <a:r>
              <a:t>Enters crop, qty, max price, radius + GPS</a:t>
            </a:r>
          </a:p>
        </p:txBody>
      </p:sp>
      <p:sp>
        <p:nvSpPr>
          <p:cNvPr id="38" name="Rectangle 37"/>
          <p:cNvSpPr/>
          <p:nvPr/>
        </p:nvSpPr>
        <p:spPr>
          <a:xfrm>
            <a:off x="6766560" y="283464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0" y="2834640"/>
            <a:ext cx="320040" cy="320040"/>
          </a:xfrm>
          <a:prstGeom prst="rect">
            <a:avLst/>
          </a:prstGeom>
          <a:noFill/>
        </p:spPr>
        <p:txBody>
          <a:bodyPr wrap="square">
            <a:spAutoFit/>
          </a:bodyPr>
          <a:lstStyle/>
          <a:p>
            <a:pPr algn="ctr">
              <a:defRPr sz="1200" b="1">
                <a:solidFill>
                  <a:srgbClr val="1B1B2F"/>
                </a:solidFill>
                <a:latin typeface="Calibri"/>
              </a:defRPr>
            </a:pPr>
            <a:r>
              <a:t>3</a:t>
            </a:r>
          </a:p>
        </p:txBody>
      </p:sp>
      <p:sp>
        <p:nvSpPr>
          <p:cNvPr id="40" name="TextBox 39"/>
          <p:cNvSpPr txBox="1"/>
          <p:nvPr/>
        </p:nvSpPr>
        <p:spPr>
          <a:xfrm>
            <a:off x="7223760" y="2834640"/>
            <a:ext cx="4572000" cy="320040"/>
          </a:xfrm>
          <a:prstGeom prst="rect">
            <a:avLst/>
          </a:prstGeom>
          <a:noFill/>
        </p:spPr>
        <p:txBody>
          <a:bodyPr wrap="square">
            <a:spAutoFit/>
          </a:bodyPr>
          <a:lstStyle/>
          <a:p>
            <a:pPr algn="l">
              <a:defRPr sz="1300" b="0">
                <a:solidFill>
                  <a:srgbClr val="CCCCCC"/>
                </a:solidFill>
                <a:latin typeface="Calibri"/>
              </a:defRPr>
            </a:pPr>
            <a:r>
              <a:t>POST /api/merchant/search → FastAPI</a:t>
            </a:r>
          </a:p>
        </p:txBody>
      </p:sp>
      <p:sp>
        <p:nvSpPr>
          <p:cNvPr id="41" name="Rectangle 40"/>
          <p:cNvSpPr/>
          <p:nvPr/>
        </p:nvSpPr>
        <p:spPr>
          <a:xfrm>
            <a:off x="6766560" y="333756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0" y="3337560"/>
            <a:ext cx="320040" cy="320040"/>
          </a:xfrm>
          <a:prstGeom prst="rect">
            <a:avLst/>
          </a:prstGeom>
          <a:noFill/>
        </p:spPr>
        <p:txBody>
          <a:bodyPr wrap="square">
            <a:spAutoFit/>
          </a:bodyPr>
          <a:lstStyle/>
          <a:p>
            <a:pPr algn="ctr">
              <a:defRPr sz="1200" b="1">
                <a:solidFill>
                  <a:srgbClr val="1B1B2F"/>
                </a:solidFill>
                <a:latin typeface="Calibri"/>
              </a:defRPr>
            </a:pPr>
            <a:r>
              <a:t>4</a:t>
            </a:r>
          </a:p>
        </p:txBody>
      </p:sp>
      <p:sp>
        <p:nvSpPr>
          <p:cNvPr id="43" name="TextBox 42"/>
          <p:cNvSpPr txBox="1"/>
          <p:nvPr/>
        </p:nvSpPr>
        <p:spPr>
          <a:xfrm>
            <a:off x="7223760" y="3337560"/>
            <a:ext cx="4572000" cy="320040"/>
          </a:xfrm>
          <a:prstGeom prst="rect">
            <a:avLst/>
          </a:prstGeom>
          <a:noFill/>
        </p:spPr>
        <p:txBody>
          <a:bodyPr wrap="square">
            <a:spAutoFit/>
          </a:bodyPr>
          <a:lstStyle/>
          <a:p>
            <a:pPr algn="l">
              <a:defRPr sz="1300" b="0">
                <a:solidFill>
                  <a:srgbClr val="CCCCCC"/>
                </a:solidFill>
                <a:latin typeface="Calibri"/>
              </a:defRPr>
            </a:pPr>
            <a:r>
              <a:t>Query encoded into same 54-D vector space</a:t>
            </a:r>
          </a:p>
        </p:txBody>
      </p:sp>
      <p:sp>
        <p:nvSpPr>
          <p:cNvPr id="44" name="Rectangle 43"/>
          <p:cNvSpPr/>
          <p:nvPr/>
        </p:nvSpPr>
        <p:spPr>
          <a:xfrm>
            <a:off x="6766560" y="384048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0" y="3840480"/>
            <a:ext cx="320040" cy="320040"/>
          </a:xfrm>
          <a:prstGeom prst="rect">
            <a:avLst/>
          </a:prstGeom>
          <a:noFill/>
        </p:spPr>
        <p:txBody>
          <a:bodyPr wrap="square">
            <a:spAutoFit/>
          </a:bodyPr>
          <a:lstStyle/>
          <a:p>
            <a:pPr algn="ctr">
              <a:defRPr sz="1200" b="1">
                <a:solidFill>
                  <a:srgbClr val="1B1B2F"/>
                </a:solidFill>
                <a:latin typeface="Calibri"/>
              </a:defRPr>
            </a:pPr>
            <a:r>
              <a:t>5</a:t>
            </a:r>
          </a:p>
        </p:txBody>
      </p:sp>
      <p:sp>
        <p:nvSpPr>
          <p:cNvPr id="46" name="TextBox 45"/>
          <p:cNvSpPr txBox="1"/>
          <p:nvPr/>
        </p:nvSpPr>
        <p:spPr>
          <a:xfrm>
            <a:off x="7223760" y="3840480"/>
            <a:ext cx="4572000" cy="320040"/>
          </a:xfrm>
          <a:prstGeom prst="rect">
            <a:avLst/>
          </a:prstGeom>
          <a:noFill/>
        </p:spPr>
        <p:txBody>
          <a:bodyPr wrap="square">
            <a:spAutoFit/>
          </a:bodyPr>
          <a:lstStyle/>
          <a:p>
            <a:pPr algn="l">
              <a:defRPr sz="1300" b="0">
                <a:solidFill>
                  <a:srgbClr val="CCCCCC"/>
                </a:solidFill>
                <a:latin typeface="Calibri"/>
              </a:defRPr>
            </a:pPr>
            <a:r>
              <a:t>HNSW ANN search → top-50 candidates</a:t>
            </a:r>
          </a:p>
        </p:txBody>
      </p:sp>
      <p:sp>
        <p:nvSpPr>
          <p:cNvPr id="47" name="Rectangle 46"/>
          <p:cNvSpPr/>
          <p:nvPr/>
        </p:nvSpPr>
        <p:spPr>
          <a:xfrm>
            <a:off x="6766560" y="434340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0" y="4343400"/>
            <a:ext cx="320040" cy="320040"/>
          </a:xfrm>
          <a:prstGeom prst="rect">
            <a:avLst/>
          </a:prstGeom>
          <a:noFill/>
        </p:spPr>
        <p:txBody>
          <a:bodyPr wrap="square">
            <a:spAutoFit/>
          </a:bodyPr>
          <a:lstStyle/>
          <a:p>
            <a:pPr algn="ctr">
              <a:defRPr sz="1200" b="1">
                <a:solidFill>
                  <a:srgbClr val="1B1B2F"/>
                </a:solidFill>
                <a:latin typeface="Calibri"/>
              </a:defRPr>
            </a:pPr>
            <a:r>
              <a:t>6</a:t>
            </a:r>
          </a:p>
        </p:txBody>
      </p:sp>
      <p:sp>
        <p:nvSpPr>
          <p:cNvPr id="49" name="TextBox 48"/>
          <p:cNvSpPr txBox="1"/>
          <p:nvPr/>
        </p:nvSpPr>
        <p:spPr>
          <a:xfrm>
            <a:off x="7223760" y="4343400"/>
            <a:ext cx="4572000" cy="320040"/>
          </a:xfrm>
          <a:prstGeom prst="rect">
            <a:avLst/>
          </a:prstGeom>
          <a:noFill/>
        </p:spPr>
        <p:txBody>
          <a:bodyPr wrap="square">
            <a:spAutoFit/>
          </a:bodyPr>
          <a:lstStyle/>
          <a:p>
            <a:pPr algn="l">
              <a:defRPr sz="1300" b="0">
                <a:solidFill>
                  <a:srgbClr val="CCCCCC"/>
                </a:solidFill>
                <a:latin typeface="Calibri"/>
              </a:defRPr>
            </a:pPr>
            <a:r>
              <a:t>Filter: active + MSP + budget constraints</a:t>
            </a:r>
          </a:p>
        </p:txBody>
      </p:sp>
      <p:sp>
        <p:nvSpPr>
          <p:cNvPr id="50" name="Rectangle 49"/>
          <p:cNvSpPr/>
          <p:nvPr/>
        </p:nvSpPr>
        <p:spPr>
          <a:xfrm>
            <a:off x="6766560" y="484632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0" y="4846320"/>
            <a:ext cx="320040" cy="320040"/>
          </a:xfrm>
          <a:prstGeom prst="rect">
            <a:avLst/>
          </a:prstGeom>
          <a:noFill/>
        </p:spPr>
        <p:txBody>
          <a:bodyPr wrap="square">
            <a:spAutoFit/>
          </a:bodyPr>
          <a:lstStyle/>
          <a:p>
            <a:pPr algn="ctr">
              <a:defRPr sz="1200" b="1">
                <a:solidFill>
                  <a:srgbClr val="1B1B2F"/>
                </a:solidFill>
                <a:latin typeface="Calibri"/>
              </a:defRPr>
            </a:pPr>
            <a:r>
              <a:t>7</a:t>
            </a:r>
          </a:p>
        </p:txBody>
      </p:sp>
      <p:sp>
        <p:nvSpPr>
          <p:cNvPr id="52" name="TextBox 51"/>
          <p:cNvSpPr txBox="1"/>
          <p:nvPr/>
        </p:nvSpPr>
        <p:spPr>
          <a:xfrm>
            <a:off x="7223760" y="4846320"/>
            <a:ext cx="4572000" cy="320040"/>
          </a:xfrm>
          <a:prstGeom prst="rect">
            <a:avLst/>
          </a:prstGeom>
          <a:noFill/>
        </p:spPr>
        <p:txBody>
          <a:bodyPr wrap="square">
            <a:spAutoFit/>
          </a:bodyPr>
          <a:lstStyle/>
          <a:p>
            <a:pPr algn="l">
              <a:defRPr sz="1300" b="0">
                <a:solidFill>
                  <a:srgbClr val="CCCCCC"/>
                </a:solidFill>
                <a:latin typeface="Calibri"/>
              </a:defRPr>
            </a:pPr>
            <a:r>
              <a:t>Haversine reranking by real distance</a:t>
            </a:r>
          </a:p>
        </p:txBody>
      </p:sp>
      <p:sp>
        <p:nvSpPr>
          <p:cNvPr id="53" name="Rectangle 52"/>
          <p:cNvSpPr/>
          <p:nvPr/>
        </p:nvSpPr>
        <p:spPr>
          <a:xfrm>
            <a:off x="6766560" y="5349240"/>
            <a:ext cx="320040" cy="32004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66560" y="5349240"/>
            <a:ext cx="320040" cy="320040"/>
          </a:xfrm>
          <a:prstGeom prst="rect">
            <a:avLst/>
          </a:prstGeom>
          <a:noFill/>
        </p:spPr>
        <p:txBody>
          <a:bodyPr wrap="square">
            <a:spAutoFit/>
          </a:bodyPr>
          <a:lstStyle/>
          <a:p>
            <a:pPr algn="ctr">
              <a:defRPr sz="1200" b="1">
                <a:solidFill>
                  <a:srgbClr val="1B1B2F"/>
                </a:solidFill>
                <a:latin typeface="Calibri"/>
              </a:defRPr>
            </a:pPr>
            <a:r>
              <a:t>8</a:t>
            </a:r>
          </a:p>
        </p:txBody>
      </p:sp>
      <p:sp>
        <p:nvSpPr>
          <p:cNvPr id="55" name="TextBox 54"/>
          <p:cNvSpPr txBox="1"/>
          <p:nvPr/>
        </p:nvSpPr>
        <p:spPr>
          <a:xfrm>
            <a:off x="7223760" y="5349240"/>
            <a:ext cx="4572000" cy="320040"/>
          </a:xfrm>
          <a:prstGeom prst="rect">
            <a:avLst/>
          </a:prstGeom>
          <a:noFill/>
        </p:spPr>
        <p:txBody>
          <a:bodyPr wrap="square">
            <a:spAutoFit/>
          </a:bodyPr>
          <a:lstStyle/>
          <a:p>
            <a:pPr algn="l">
              <a:defRPr sz="1300" b="0">
                <a:solidFill>
                  <a:srgbClr val="CCCCCC"/>
                </a:solidFill>
                <a:latin typeface="Calibri"/>
              </a:defRPr>
            </a:pPr>
            <a:r>
              <a:t>Return top-10 matches sorted by proximity</a:t>
            </a:r>
          </a:p>
        </p:txBody>
      </p:sp>
      <p:sp>
        <p:nvSpPr>
          <p:cNvPr id="56" name="Rectangle 55"/>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3/13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548640"/>
          </a:xfrm>
          <a:prstGeom prst="rect">
            <a:avLst/>
          </a:prstGeom>
          <a:noFill/>
        </p:spPr>
        <p:txBody>
          <a:bodyPr wrap="square">
            <a:spAutoFit/>
          </a:bodyPr>
          <a:lstStyle/>
          <a:p>
            <a:pPr algn="l">
              <a:defRPr sz="3200" b="1">
                <a:solidFill>
                  <a:srgbClr val="FFFFFF"/>
                </a:solidFill>
                <a:latin typeface="Calibri"/>
              </a:defRPr>
            </a:pPr>
            <a:r>
              <a:t>Design — Vector Encoding Pipeline</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5303520" cy="5029200"/>
          </a:xfrm>
          <a:prstGeom prst="rect">
            <a:avLst/>
          </a:prstGeom>
          <a:solidFill>
            <a:srgbClr val="24243E"/>
          </a:solidFill>
          <a:ln w="1905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5029200" cy="457200"/>
          </a:xfrm>
          <a:prstGeom prst="rect">
            <a:avLst/>
          </a:prstGeom>
          <a:noFill/>
        </p:spPr>
        <p:txBody>
          <a:bodyPr wrap="square">
            <a:spAutoFit/>
          </a:bodyPr>
          <a:lstStyle/>
          <a:p>
            <a:pPr algn="l">
              <a:defRPr sz="2000" b="1">
                <a:solidFill>
                  <a:srgbClr val="00C9A7"/>
                </a:solidFill>
                <a:latin typeface="Calibri"/>
              </a:defRPr>
            </a:pPr>
            <a:r>
              <a:t>54-Dimensional Feature Vector</a:t>
            </a:r>
          </a:p>
        </p:txBody>
      </p:sp>
      <p:sp>
        <p:nvSpPr>
          <p:cNvPr id="7" name="Rectangle 6"/>
          <p:cNvSpPr/>
          <p:nvPr/>
        </p:nvSpPr>
        <p:spPr>
          <a:xfrm>
            <a:off x="914400" y="2011680"/>
            <a:ext cx="1097280" cy="5029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1097280" cy="502920"/>
          </a:xfrm>
          <a:prstGeom prst="rect">
            <a:avLst/>
          </a:prstGeom>
          <a:noFill/>
        </p:spPr>
        <p:txBody>
          <a:bodyPr wrap="square">
            <a:spAutoFit/>
          </a:bodyPr>
          <a:lstStyle/>
          <a:p>
            <a:pPr algn="ctr">
              <a:defRPr sz="1100" b="1">
                <a:solidFill>
                  <a:srgbClr val="1B1B2F"/>
                </a:solidFill>
                <a:latin typeface="Calibri"/>
              </a:defRPr>
            </a:pPr>
            <a:r>
              <a:t>Dim 0</a:t>
            </a:r>
          </a:p>
        </p:txBody>
      </p:sp>
      <p:sp>
        <p:nvSpPr>
          <p:cNvPr id="9" name="TextBox 8"/>
          <p:cNvSpPr txBox="1"/>
          <p:nvPr/>
        </p:nvSpPr>
        <p:spPr>
          <a:xfrm>
            <a:off x="2194560" y="2011680"/>
            <a:ext cx="3200400" cy="274320"/>
          </a:xfrm>
          <a:prstGeom prst="rect">
            <a:avLst/>
          </a:prstGeom>
          <a:noFill/>
        </p:spPr>
        <p:txBody>
          <a:bodyPr wrap="square">
            <a:spAutoFit/>
          </a:bodyPr>
          <a:lstStyle/>
          <a:p>
            <a:pPr algn="l">
              <a:defRPr sz="1400" b="1">
                <a:solidFill>
                  <a:srgbClr val="FFFFFF"/>
                </a:solidFill>
                <a:latin typeface="Calibri"/>
              </a:defRPr>
            </a:pPr>
            <a:r>
              <a:t>Latitude (normalised 0–1)</a:t>
            </a:r>
          </a:p>
        </p:txBody>
      </p:sp>
      <p:sp>
        <p:nvSpPr>
          <p:cNvPr id="10" name="TextBox 9"/>
          <p:cNvSpPr txBox="1"/>
          <p:nvPr/>
        </p:nvSpPr>
        <p:spPr>
          <a:xfrm>
            <a:off x="2194560" y="2267712"/>
            <a:ext cx="3200400" cy="274320"/>
          </a:xfrm>
          <a:prstGeom prst="rect">
            <a:avLst/>
          </a:prstGeom>
          <a:noFill/>
        </p:spPr>
        <p:txBody>
          <a:bodyPr wrap="square">
            <a:spAutoFit/>
          </a:bodyPr>
          <a:lstStyle/>
          <a:p>
            <a:pPr algn="l">
              <a:defRPr sz="1100" b="0">
                <a:solidFill>
                  <a:srgbClr val="9999AA"/>
                </a:solidFill>
                <a:latin typeface="Calibri"/>
              </a:defRPr>
            </a:pPr>
            <a:r>
              <a:t>GPS latitude mapped to [0,1]</a:t>
            </a:r>
          </a:p>
        </p:txBody>
      </p:sp>
      <p:sp>
        <p:nvSpPr>
          <p:cNvPr id="11" name="Rectangle 10"/>
          <p:cNvSpPr/>
          <p:nvPr/>
        </p:nvSpPr>
        <p:spPr>
          <a:xfrm>
            <a:off x="914400" y="2743200"/>
            <a:ext cx="1097280" cy="5029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43200"/>
            <a:ext cx="1097280" cy="502920"/>
          </a:xfrm>
          <a:prstGeom prst="rect">
            <a:avLst/>
          </a:prstGeom>
          <a:noFill/>
        </p:spPr>
        <p:txBody>
          <a:bodyPr wrap="square">
            <a:spAutoFit/>
          </a:bodyPr>
          <a:lstStyle/>
          <a:p>
            <a:pPr algn="ctr">
              <a:defRPr sz="1100" b="1">
                <a:solidFill>
                  <a:srgbClr val="1B1B2F"/>
                </a:solidFill>
                <a:latin typeface="Calibri"/>
              </a:defRPr>
            </a:pPr>
            <a:r>
              <a:t>Dim 1</a:t>
            </a:r>
          </a:p>
        </p:txBody>
      </p:sp>
      <p:sp>
        <p:nvSpPr>
          <p:cNvPr id="13" name="TextBox 12"/>
          <p:cNvSpPr txBox="1"/>
          <p:nvPr/>
        </p:nvSpPr>
        <p:spPr>
          <a:xfrm>
            <a:off x="2194560" y="2743200"/>
            <a:ext cx="3200400" cy="274320"/>
          </a:xfrm>
          <a:prstGeom prst="rect">
            <a:avLst/>
          </a:prstGeom>
          <a:noFill/>
        </p:spPr>
        <p:txBody>
          <a:bodyPr wrap="square">
            <a:spAutoFit/>
          </a:bodyPr>
          <a:lstStyle/>
          <a:p>
            <a:pPr algn="l">
              <a:defRPr sz="1400" b="1">
                <a:solidFill>
                  <a:srgbClr val="FFFFFF"/>
                </a:solidFill>
                <a:latin typeface="Calibri"/>
              </a:defRPr>
            </a:pPr>
            <a:r>
              <a:t>Longitude (normalised 0–1)</a:t>
            </a:r>
          </a:p>
        </p:txBody>
      </p:sp>
      <p:sp>
        <p:nvSpPr>
          <p:cNvPr id="14" name="TextBox 13"/>
          <p:cNvSpPr txBox="1"/>
          <p:nvPr/>
        </p:nvSpPr>
        <p:spPr>
          <a:xfrm>
            <a:off x="2194560" y="2999232"/>
            <a:ext cx="3200400" cy="274320"/>
          </a:xfrm>
          <a:prstGeom prst="rect">
            <a:avLst/>
          </a:prstGeom>
          <a:noFill/>
        </p:spPr>
        <p:txBody>
          <a:bodyPr wrap="square">
            <a:spAutoFit/>
          </a:bodyPr>
          <a:lstStyle/>
          <a:p>
            <a:pPr algn="l">
              <a:defRPr sz="1100" b="0">
                <a:solidFill>
                  <a:srgbClr val="9999AA"/>
                </a:solidFill>
                <a:latin typeface="Calibri"/>
              </a:defRPr>
            </a:pPr>
            <a:r>
              <a:t>GPS longitude mapped to [0,1]</a:t>
            </a:r>
          </a:p>
        </p:txBody>
      </p:sp>
      <p:sp>
        <p:nvSpPr>
          <p:cNvPr id="15" name="Rectangle 14"/>
          <p:cNvSpPr/>
          <p:nvPr/>
        </p:nvSpPr>
        <p:spPr>
          <a:xfrm>
            <a:off x="914400" y="3474720"/>
            <a:ext cx="1097280" cy="5029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20"/>
            <a:ext cx="1097280" cy="502920"/>
          </a:xfrm>
          <a:prstGeom prst="rect">
            <a:avLst/>
          </a:prstGeom>
          <a:noFill/>
        </p:spPr>
        <p:txBody>
          <a:bodyPr wrap="square">
            <a:spAutoFit/>
          </a:bodyPr>
          <a:lstStyle/>
          <a:p>
            <a:pPr algn="ctr">
              <a:defRPr sz="1100" b="1">
                <a:solidFill>
                  <a:srgbClr val="1B1B2F"/>
                </a:solidFill>
                <a:latin typeface="Calibri"/>
              </a:defRPr>
            </a:pPr>
            <a:r>
              <a:t>Dim 2</a:t>
            </a:r>
          </a:p>
        </p:txBody>
      </p:sp>
      <p:sp>
        <p:nvSpPr>
          <p:cNvPr id="17" name="TextBox 16"/>
          <p:cNvSpPr txBox="1"/>
          <p:nvPr/>
        </p:nvSpPr>
        <p:spPr>
          <a:xfrm>
            <a:off x="2194560" y="3474720"/>
            <a:ext cx="3200400" cy="274320"/>
          </a:xfrm>
          <a:prstGeom prst="rect">
            <a:avLst/>
          </a:prstGeom>
          <a:noFill/>
        </p:spPr>
        <p:txBody>
          <a:bodyPr wrap="square">
            <a:spAutoFit/>
          </a:bodyPr>
          <a:lstStyle/>
          <a:p>
            <a:pPr algn="l">
              <a:defRPr sz="1400" b="1">
                <a:solidFill>
                  <a:srgbClr val="FFFFFF"/>
                </a:solidFill>
                <a:latin typeface="Calibri"/>
              </a:defRPr>
            </a:pPr>
            <a:r>
              <a:t>Price (normalised 0–1)</a:t>
            </a:r>
          </a:p>
        </p:txBody>
      </p:sp>
      <p:sp>
        <p:nvSpPr>
          <p:cNvPr id="18" name="TextBox 17"/>
          <p:cNvSpPr txBox="1"/>
          <p:nvPr/>
        </p:nvSpPr>
        <p:spPr>
          <a:xfrm>
            <a:off x="2194560" y="3730752"/>
            <a:ext cx="3200400" cy="274320"/>
          </a:xfrm>
          <a:prstGeom prst="rect">
            <a:avLst/>
          </a:prstGeom>
          <a:noFill/>
        </p:spPr>
        <p:txBody>
          <a:bodyPr wrap="square">
            <a:spAutoFit/>
          </a:bodyPr>
          <a:lstStyle/>
          <a:p>
            <a:pPr algn="l">
              <a:defRPr sz="1100" b="0">
                <a:solidFill>
                  <a:srgbClr val="9999AA"/>
                </a:solidFill>
                <a:latin typeface="Calibri"/>
              </a:defRPr>
            </a:pPr>
            <a:r>
              <a:t>₹/kg mapped via [0, 500] range</a:t>
            </a:r>
          </a:p>
        </p:txBody>
      </p:sp>
      <p:sp>
        <p:nvSpPr>
          <p:cNvPr id="19" name="Rectangle 18"/>
          <p:cNvSpPr/>
          <p:nvPr/>
        </p:nvSpPr>
        <p:spPr>
          <a:xfrm>
            <a:off x="914400" y="4206240"/>
            <a:ext cx="1097280" cy="5029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206240"/>
            <a:ext cx="1097280" cy="502920"/>
          </a:xfrm>
          <a:prstGeom prst="rect">
            <a:avLst/>
          </a:prstGeom>
          <a:noFill/>
        </p:spPr>
        <p:txBody>
          <a:bodyPr wrap="square">
            <a:spAutoFit/>
          </a:bodyPr>
          <a:lstStyle/>
          <a:p>
            <a:pPr algn="ctr">
              <a:defRPr sz="1100" b="1">
                <a:solidFill>
                  <a:srgbClr val="1B1B2F"/>
                </a:solidFill>
                <a:latin typeface="Calibri"/>
              </a:defRPr>
            </a:pPr>
            <a:r>
              <a:t>Dim 3</a:t>
            </a:r>
          </a:p>
        </p:txBody>
      </p:sp>
      <p:sp>
        <p:nvSpPr>
          <p:cNvPr id="21" name="TextBox 20"/>
          <p:cNvSpPr txBox="1"/>
          <p:nvPr/>
        </p:nvSpPr>
        <p:spPr>
          <a:xfrm>
            <a:off x="2194560" y="4206240"/>
            <a:ext cx="3200400" cy="274320"/>
          </a:xfrm>
          <a:prstGeom prst="rect">
            <a:avLst/>
          </a:prstGeom>
          <a:noFill/>
        </p:spPr>
        <p:txBody>
          <a:bodyPr wrap="square">
            <a:spAutoFit/>
          </a:bodyPr>
          <a:lstStyle/>
          <a:p>
            <a:pPr algn="l">
              <a:defRPr sz="1400" b="1">
                <a:solidFill>
                  <a:srgbClr val="FFFFFF"/>
                </a:solidFill>
                <a:latin typeface="Calibri"/>
              </a:defRPr>
            </a:pPr>
            <a:r>
              <a:t>Quantity (normalised 0–1)</a:t>
            </a:r>
          </a:p>
        </p:txBody>
      </p:sp>
      <p:sp>
        <p:nvSpPr>
          <p:cNvPr id="22" name="TextBox 21"/>
          <p:cNvSpPr txBox="1"/>
          <p:nvPr/>
        </p:nvSpPr>
        <p:spPr>
          <a:xfrm>
            <a:off x="2194560" y="4462272"/>
            <a:ext cx="3200400" cy="274320"/>
          </a:xfrm>
          <a:prstGeom prst="rect">
            <a:avLst/>
          </a:prstGeom>
          <a:noFill/>
        </p:spPr>
        <p:txBody>
          <a:bodyPr wrap="square">
            <a:spAutoFit/>
          </a:bodyPr>
          <a:lstStyle/>
          <a:p>
            <a:pPr algn="l">
              <a:defRPr sz="1100" b="0">
                <a:solidFill>
                  <a:srgbClr val="9999AA"/>
                </a:solidFill>
                <a:latin typeface="Calibri"/>
              </a:defRPr>
            </a:pPr>
            <a:r>
              <a:t>kg mapped via [0, 50000] range</a:t>
            </a:r>
          </a:p>
        </p:txBody>
      </p:sp>
      <p:sp>
        <p:nvSpPr>
          <p:cNvPr id="23" name="Rectangle 22"/>
          <p:cNvSpPr/>
          <p:nvPr/>
        </p:nvSpPr>
        <p:spPr>
          <a:xfrm>
            <a:off x="914400" y="4937760"/>
            <a:ext cx="1097280" cy="502920"/>
          </a:xfrm>
          <a:prstGeom prst="rect">
            <a:avLst/>
          </a:prstGeom>
          <a:solidFill>
            <a:srgbClr val="4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937760"/>
            <a:ext cx="1097280" cy="502920"/>
          </a:xfrm>
          <a:prstGeom prst="rect">
            <a:avLst/>
          </a:prstGeom>
          <a:noFill/>
        </p:spPr>
        <p:txBody>
          <a:bodyPr wrap="square">
            <a:spAutoFit/>
          </a:bodyPr>
          <a:lstStyle/>
          <a:p>
            <a:pPr algn="ctr">
              <a:defRPr sz="1100" b="1">
                <a:solidFill>
                  <a:srgbClr val="1B1B2F"/>
                </a:solidFill>
                <a:latin typeface="Calibri"/>
              </a:defRPr>
            </a:pPr>
            <a:r>
              <a:t>Dim 4–53</a:t>
            </a:r>
          </a:p>
        </p:txBody>
      </p:sp>
      <p:sp>
        <p:nvSpPr>
          <p:cNvPr id="25" name="TextBox 24"/>
          <p:cNvSpPr txBox="1"/>
          <p:nvPr/>
        </p:nvSpPr>
        <p:spPr>
          <a:xfrm>
            <a:off x="2194560" y="4937760"/>
            <a:ext cx="3200400" cy="274320"/>
          </a:xfrm>
          <a:prstGeom prst="rect">
            <a:avLst/>
          </a:prstGeom>
          <a:noFill/>
        </p:spPr>
        <p:txBody>
          <a:bodyPr wrap="square">
            <a:spAutoFit/>
          </a:bodyPr>
          <a:lstStyle/>
          <a:p>
            <a:pPr algn="l">
              <a:defRPr sz="1400" b="1">
                <a:solidFill>
                  <a:srgbClr val="FFFFFF"/>
                </a:solidFill>
                <a:latin typeface="Calibri"/>
              </a:defRPr>
            </a:pPr>
            <a:r>
              <a:t>Crop One-Hot (50 dims)</a:t>
            </a:r>
          </a:p>
        </p:txBody>
      </p:sp>
      <p:sp>
        <p:nvSpPr>
          <p:cNvPr id="26" name="TextBox 25"/>
          <p:cNvSpPr txBox="1"/>
          <p:nvPr/>
        </p:nvSpPr>
        <p:spPr>
          <a:xfrm>
            <a:off x="2194560" y="5193792"/>
            <a:ext cx="3200400" cy="274320"/>
          </a:xfrm>
          <a:prstGeom prst="rect">
            <a:avLst/>
          </a:prstGeom>
          <a:noFill/>
        </p:spPr>
        <p:txBody>
          <a:bodyPr wrap="square">
            <a:spAutoFit/>
          </a:bodyPr>
          <a:lstStyle/>
          <a:p>
            <a:pPr algn="l">
              <a:defRPr sz="1100" b="0">
                <a:solidFill>
                  <a:srgbClr val="9999AA"/>
                </a:solidFill>
                <a:latin typeface="Calibri"/>
              </a:defRPr>
            </a:pPr>
            <a:r>
              <a:t>50 supported crops encoded</a:t>
            </a:r>
          </a:p>
        </p:txBody>
      </p:sp>
      <p:sp>
        <p:nvSpPr>
          <p:cNvPr id="27" name="TextBox 26"/>
          <p:cNvSpPr txBox="1"/>
          <p:nvPr/>
        </p:nvSpPr>
        <p:spPr>
          <a:xfrm>
            <a:off x="822960" y="5669280"/>
            <a:ext cx="5029200" cy="365760"/>
          </a:xfrm>
          <a:prstGeom prst="rect">
            <a:avLst/>
          </a:prstGeom>
          <a:noFill/>
        </p:spPr>
        <p:txBody>
          <a:bodyPr wrap="square">
            <a:spAutoFit/>
          </a:bodyPr>
          <a:lstStyle/>
          <a:p>
            <a:pPr algn="l">
              <a:defRPr sz="1200" b="0">
                <a:solidFill>
                  <a:srgbClr val="9999AA"/>
                </a:solidFill>
                <a:latin typeface="Calibri"/>
              </a:defRPr>
            </a:pPr>
            <a:r>
              <a:t>Normalisation: x' = (x − min) / (max − min),  clamped to [0, 1]</a:t>
            </a:r>
          </a:p>
        </p:txBody>
      </p:sp>
      <p:sp>
        <p:nvSpPr>
          <p:cNvPr id="28" name="Rectangle 27"/>
          <p:cNvSpPr/>
          <p:nvPr/>
        </p:nvSpPr>
        <p:spPr>
          <a:xfrm>
            <a:off x="6217920" y="1280160"/>
            <a:ext cx="5303520" cy="5029200"/>
          </a:xfrm>
          <a:prstGeom prst="rect">
            <a:avLst/>
          </a:prstGeom>
          <a:solidFill>
            <a:srgbClr val="24243E"/>
          </a:solidFill>
          <a:ln w="19050">
            <a:solidFill>
              <a:srgbClr val="3333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1371600"/>
            <a:ext cx="5029200" cy="457200"/>
          </a:xfrm>
          <a:prstGeom prst="rect">
            <a:avLst/>
          </a:prstGeom>
          <a:noFill/>
        </p:spPr>
        <p:txBody>
          <a:bodyPr wrap="square">
            <a:spAutoFit/>
          </a:bodyPr>
          <a:lstStyle/>
          <a:p>
            <a:pPr algn="l">
              <a:defRPr sz="2000" b="1">
                <a:solidFill>
                  <a:srgbClr val="00C9A7"/>
                </a:solidFill>
                <a:latin typeface="Calibri"/>
              </a:defRPr>
            </a:pPr>
            <a:r>
              <a:t>HNSW Index Configuration</a:t>
            </a:r>
          </a:p>
        </p:txBody>
      </p:sp>
      <p:sp>
        <p:nvSpPr>
          <p:cNvPr id="30" name="TextBox 29"/>
          <p:cNvSpPr txBox="1"/>
          <p:nvPr/>
        </p:nvSpPr>
        <p:spPr>
          <a:xfrm>
            <a:off x="6583680" y="2011680"/>
            <a:ext cx="2286000" cy="274320"/>
          </a:xfrm>
          <a:prstGeom prst="rect">
            <a:avLst/>
          </a:prstGeom>
          <a:noFill/>
        </p:spPr>
        <p:txBody>
          <a:bodyPr wrap="square">
            <a:spAutoFit/>
          </a:bodyPr>
          <a:lstStyle/>
          <a:p>
            <a:pPr algn="l">
              <a:defRPr sz="1300" b="1">
                <a:solidFill>
                  <a:srgbClr val="4F9DF7"/>
                </a:solidFill>
                <a:latin typeface="Calibri"/>
              </a:defRPr>
            </a:pPr>
            <a:r>
              <a:t>Space</a:t>
            </a:r>
          </a:p>
        </p:txBody>
      </p:sp>
      <p:sp>
        <p:nvSpPr>
          <p:cNvPr id="31" name="TextBox 30"/>
          <p:cNvSpPr txBox="1"/>
          <p:nvPr/>
        </p:nvSpPr>
        <p:spPr>
          <a:xfrm>
            <a:off x="8686800" y="2011680"/>
            <a:ext cx="1097280" cy="274320"/>
          </a:xfrm>
          <a:prstGeom prst="rect">
            <a:avLst/>
          </a:prstGeom>
          <a:noFill/>
        </p:spPr>
        <p:txBody>
          <a:bodyPr wrap="square">
            <a:spAutoFit/>
          </a:bodyPr>
          <a:lstStyle/>
          <a:p>
            <a:pPr algn="l">
              <a:defRPr sz="1300" b="1">
                <a:solidFill>
                  <a:srgbClr val="FFD600"/>
                </a:solidFill>
                <a:latin typeface="Calibri"/>
              </a:defRPr>
            </a:pPr>
            <a:r>
              <a:t>L2 (Euclidean)</a:t>
            </a:r>
          </a:p>
        </p:txBody>
      </p:sp>
      <p:sp>
        <p:nvSpPr>
          <p:cNvPr id="32" name="TextBox 31"/>
          <p:cNvSpPr txBox="1"/>
          <p:nvPr/>
        </p:nvSpPr>
        <p:spPr>
          <a:xfrm>
            <a:off x="6583680" y="2240280"/>
            <a:ext cx="4572000" cy="274320"/>
          </a:xfrm>
          <a:prstGeom prst="rect">
            <a:avLst/>
          </a:prstGeom>
          <a:noFill/>
        </p:spPr>
        <p:txBody>
          <a:bodyPr wrap="square">
            <a:spAutoFit/>
          </a:bodyPr>
          <a:lstStyle/>
          <a:p>
            <a:pPr algn="l">
              <a:defRPr sz="1000" b="0">
                <a:solidFill>
                  <a:srgbClr val="9999AA"/>
                </a:solidFill>
                <a:latin typeface="Calibri"/>
              </a:defRPr>
            </a:pPr>
            <a:r>
              <a:t>Euclidean distance between normalised vectors</a:t>
            </a:r>
          </a:p>
        </p:txBody>
      </p:sp>
      <p:sp>
        <p:nvSpPr>
          <p:cNvPr id="33" name="TextBox 32"/>
          <p:cNvSpPr txBox="1"/>
          <p:nvPr/>
        </p:nvSpPr>
        <p:spPr>
          <a:xfrm>
            <a:off x="6583680" y="2542032"/>
            <a:ext cx="2286000" cy="274320"/>
          </a:xfrm>
          <a:prstGeom prst="rect">
            <a:avLst/>
          </a:prstGeom>
          <a:noFill/>
        </p:spPr>
        <p:txBody>
          <a:bodyPr wrap="square">
            <a:spAutoFit/>
          </a:bodyPr>
          <a:lstStyle/>
          <a:p>
            <a:pPr algn="l">
              <a:defRPr sz="1300" b="1">
                <a:solidFill>
                  <a:srgbClr val="4F9DF7"/>
                </a:solidFill>
                <a:latin typeface="Calibri"/>
              </a:defRPr>
            </a:pPr>
            <a:r>
              <a:t>M</a:t>
            </a:r>
          </a:p>
        </p:txBody>
      </p:sp>
      <p:sp>
        <p:nvSpPr>
          <p:cNvPr id="34" name="TextBox 33"/>
          <p:cNvSpPr txBox="1"/>
          <p:nvPr/>
        </p:nvSpPr>
        <p:spPr>
          <a:xfrm>
            <a:off x="8686800" y="2542032"/>
            <a:ext cx="1097280" cy="274320"/>
          </a:xfrm>
          <a:prstGeom prst="rect">
            <a:avLst/>
          </a:prstGeom>
          <a:noFill/>
        </p:spPr>
        <p:txBody>
          <a:bodyPr wrap="square">
            <a:spAutoFit/>
          </a:bodyPr>
          <a:lstStyle/>
          <a:p>
            <a:pPr algn="l">
              <a:defRPr sz="1300" b="1">
                <a:solidFill>
                  <a:srgbClr val="FFD600"/>
                </a:solidFill>
                <a:latin typeface="Calibri"/>
              </a:defRPr>
            </a:pPr>
            <a:r>
              <a:t>16</a:t>
            </a:r>
          </a:p>
        </p:txBody>
      </p:sp>
      <p:sp>
        <p:nvSpPr>
          <p:cNvPr id="35" name="TextBox 34"/>
          <p:cNvSpPr txBox="1"/>
          <p:nvPr/>
        </p:nvSpPr>
        <p:spPr>
          <a:xfrm>
            <a:off x="6583680" y="2770632"/>
            <a:ext cx="4572000" cy="274320"/>
          </a:xfrm>
          <a:prstGeom prst="rect">
            <a:avLst/>
          </a:prstGeom>
          <a:noFill/>
        </p:spPr>
        <p:txBody>
          <a:bodyPr wrap="square">
            <a:spAutoFit/>
          </a:bodyPr>
          <a:lstStyle/>
          <a:p>
            <a:pPr algn="l">
              <a:defRPr sz="1000" b="0">
                <a:solidFill>
                  <a:srgbClr val="9999AA"/>
                </a:solidFill>
                <a:latin typeface="Calibri"/>
              </a:defRPr>
            </a:pPr>
            <a:r>
              <a:t>Max bi-directional links per node per layer</a:t>
            </a:r>
          </a:p>
        </p:txBody>
      </p:sp>
      <p:sp>
        <p:nvSpPr>
          <p:cNvPr id="36" name="TextBox 35"/>
          <p:cNvSpPr txBox="1"/>
          <p:nvPr/>
        </p:nvSpPr>
        <p:spPr>
          <a:xfrm>
            <a:off x="6583680" y="3072384"/>
            <a:ext cx="2286000" cy="274320"/>
          </a:xfrm>
          <a:prstGeom prst="rect">
            <a:avLst/>
          </a:prstGeom>
          <a:noFill/>
        </p:spPr>
        <p:txBody>
          <a:bodyPr wrap="square">
            <a:spAutoFit/>
          </a:bodyPr>
          <a:lstStyle/>
          <a:p>
            <a:pPr algn="l">
              <a:defRPr sz="1300" b="1">
                <a:solidFill>
                  <a:srgbClr val="4F9DF7"/>
                </a:solidFill>
                <a:latin typeface="Calibri"/>
              </a:defRPr>
            </a:pPr>
            <a:r>
              <a:t>ef_construction</a:t>
            </a:r>
          </a:p>
        </p:txBody>
      </p:sp>
      <p:sp>
        <p:nvSpPr>
          <p:cNvPr id="37" name="TextBox 36"/>
          <p:cNvSpPr txBox="1"/>
          <p:nvPr/>
        </p:nvSpPr>
        <p:spPr>
          <a:xfrm>
            <a:off x="8686800" y="3072384"/>
            <a:ext cx="1097280" cy="274320"/>
          </a:xfrm>
          <a:prstGeom prst="rect">
            <a:avLst/>
          </a:prstGeom>
          <a:noFill/>
        </p:spPr>
        <p:txBody>
          <a:bodyPr wrap="square">
            <a:spAutoFit/>
          </a:bodyPr>
          <a:lstStyle/>
          <a:p>
            <a:pPr algn="l">
              <a:defRPr sz="1300" b="1">
                <a:solidFill>
                  <a:srgbClr val="FFD600"/>
                </a:solidFill>
                <a:latin typeface="Calibri"/>
              </a:defRPr>
            </a:pPr>
            <a:r>
              <a:t>200</a:t>
            </a:r>
          </a:p>
        </p:txBody>
      </p:sp>
      <p:sp>
        <p:nvSpPr>
          <p:cNvPr id="38" name="TextBox 37"/>
          <p:cNvSpPr txBox="1"/>
          <p:nvPr/>
        </p:nvSpPr>
        <p:spPr>
          <a:xfrm>
            <a:off x="6583680" y="3300984"/>
            <a:ext cx="4572000" cy="274320"/>
          </a:xfrm>
          <a:prstGeom prst="rect">
            <a:avLst/>
          </a:prstGeom>
          <a:noFill/>
        </p:spPr>
        <p:txBody>
          <a:bodyPr wrap="square">
            <a:spAutoFit/>
          </a:bodyPr>
          <a:lstStyle/>
          <a:p>
            <a:pPr algn="l">
              <a:defRPr sz="1000" b="0">
                <a:solidFill>
                  <a:srgbClr val="9999AA"/>
                </a:solidFill>
                <a:latin typeface="Calibri"/>
              </a:defRPr>
            </a:pPr>
            <a:r>
              <a:t>Candidate list size during index build</a:t>
            </a:r>
          </a:p>
        </p:txBody>
      </p:sp>
      <p:sp>
        <p:nvSpPr>
          <p:cNvPr id="39" name="TextBox 38"/>
          <p:cNvSpPr txBox="1"/>
          <p:nvPr/>
        </p:nvSpPr>
        <p:spPr>
          <a:xfrm>
            <a:off x="6583680" y="3602735"/>
            <a:ext cx="2286000" cy="274320"/>
          </a:xfrm>
          <a:prstGeom prst="rect">
            <a:avLst/>
          </a:prstGeom>
          <a:noFill/>
        </p:spPr>
        <p:txBody>
          <a:bodyPr wrap="square">
            <a:spAutoFit/>
          </a:bodyPr>
          <a:lstStyle/>
          <a:p>
            <a:pPr algn="l">
              <a:defRPr sz="1300" b="1">
                <a:solidFill>
                  <a:srgbClr val="4F9DF7"/>
                </a:solidFill>
                <a:latin typeface="Calibri"/>
              </a:defRPr>
            </a:pPr>
            <a:r>
              <a:t>ef_search</a:t>
            </a:r>
          </a:p>
        </p:txBody>
      </p:sp>
      <p:sp>
        <p:nvSpPr>
          <p:cNvPr id="40" name="TextBox 39"/>
          <p:cNvSpPr txBox="1"/>
          <p:nvPr/>
        </p:nvSpPr>
        <p:spPr>
          <a:xfrm>
            <a:off x="8686800" y="3602735"/>
            <a:ext cx="1097280" cy="274320"/>
          </a:xfrm>
          <a:prstGeom prst="rect">
            <a:avLst/>
          </a:prstGeom>
          <a:noFill/>
        </p:spPr>
        <p:txBody>
          <a:bodyPr wrap="square">
            <a:spAutoFit/>
          </a:bodyPr>
          <a:lstStyle/>
          <a:p>
            <a:pPr algn="l">
              <a:defRPr sz="1300" b="1">
                <a:solidFill>
                  <a:srgbClr val="FFD600"/>
                </a:solidFill>
                <a:latin typeface="Calibri"/>
              </a:defRPr>
            </a:pPr>
            <a:r>
              <a:t>100</a:t>
            </a:r>
          </a:p>
        </p:txBody>
      </p:sp>
      <p:sp>
        <p:nvSpPr>
          <p:cNvPr id="41" name="TextBox 40"/>
          <p:cNvSpPr txBox="1"/>
          <p:nvPr/>
        </p:nvSpPr>
        <p:spPr>
          <a:xfrm>
            <a:off x="6583680" y="3831335"/>
            <a:ext cx="4572000" cy="274320"/>
          </a:xfrm>
          <a:prstGeom prst="rect">
            <a:avLst/>
          </a:prstGeom>
          <a:noFill/>
        </p:spPr>
        <p:txBody>
          <a:bodyPr wrap="square">
            <a:spAutoFit/>
          </a:bodyPr>
          <a:lstStyle/>
          <a:p>
            <a:pPr algn="l">
              <a:defRPr sz="1000" b="0">
                <a:solidFill>
                  <a:srgbClr val="9999AA"/>
                </a:solidFill>
                <a:latin typeface="Calibri"/>
              </a:defRPr>
            </a:pPr>
            <a:r>
              <a:t>Candidate list size during query</a:t>
            </a:r>
          </a:p>
        </p:txBody>
      </p:sp>
      <p:sp>
        <p:nvSpPr>
          <p:cNvPr id="42" name="TextBox 41"/>
          <p:cNvSpPr txBox="1"/>
          <p:nvPr/>
        </p:nvSpPr>
        <p:spPr>
          <a:xfrm>
            <a:off x="6583680" y="4133088"/>
            <a:ext cx="2286000" cy="274320"/>
          </a:xfrm>
          <a:prstGeom prst="rect">
            <a:avLst/>
          </a:prstGeom>
          <a:noFill/>
        </p:spPr>
        <p:txBody>
          <a:bodyPr wrap="square">
            <a:spAutoFit/>
          </a:bodyPr>
          <a:lstStyle/>
          <a:p>
            <a:pPr algn="l">
              <a:defRPr sz="1300" b="1">
                <a:solidFill>
                  <a:srgbClr val="4F9DF7"/>
                </a:solidFill>
                <a:latin typeface="Calibri"/>
              </a:defRPr>
            </a:pPr>
            <a:r>
              <a:t>Max Elements</a:t>
            </a:r>
          </a:p>
        </p:txBody>
      </p:sp>
      <p:sp>
        <p:nvSpPr>
          <p:cNvPr id="43" name="TextBox 42"/>
          <p:cNvSpPr txBox="1"/>
          <p:nvPr/>
        </p:nvSpPr>
        <p:spPr>
          <a:xfrm>
            <a:off x="8686800" y="4133088"/>
            <a:ext cx="1097280" cy="274320"/>
          </a:xfrm>
          <a:prstGeom prst="rect">
            <a:avLst/>
          </a:prstGeom>
          <a:noFill/>
        </p:spPr>
        <p:txBody>
          <a:bodyPr wrap="square">
            <a:spAutoFit/>
          </a:bodyPr>
          <a:lstStyle/>
          <a:p>
            <a:pPr algn="l">
              <a:defRPr sz="1300" b="1">
                <a:solidFill>
                  <a:srgbClr val="FFD600"/>
                </a:solidFill>
                <a:latin typeface="Calibri"/>
              </a:defRPr>
            </a:pPr>
            <a:r>
              <a:t>10,000</a:t>
            </a:r>
          </a:p>
        </p:txBody>
      </p:sp>
      <p:sp>
        <p:nvSpPr>
          <p:cNvPr id="44" name="TextBox 43"/>
          <p:cNvSpPr txBox="1"/>
          <p:nvPr/>
        </p:nvSpPr>
        <p:spPr>
          <a:xfrm>
            <a:off x="6583680" y="4361688"/>
            <a:ext cx="4572000" cy="274320"/>
          </a:xfrm>
          <a:prstGeom prst="rect">
            <a:avLst/>
          </a:prstGeom>
          <a:noFill/>
        </p:spPr>
        <p:txBody>
          <a:bodyPr wrap="square">
            <a:spAutoFit/>
          </a:bodyPr>
          <a:lstStyle/>
          <a:p>
            <a:pPr algn="l">
              <a:defRPr sz="1000" b="0">
                <a:solidFill>
                  <a:srgbClr val="9999AA"/>
                </a:solidFill>
                <a:latin typeface="Calibri"/>
              </a:defRPr>
            </a:pPr>
            <a:r>
              <a:t>Initial capacity (auto-resized)</a:t>
            </a:r>
          </a:p>
        </p:txBody>
      </p:sp>
      <p:sp>
        <p:nvSpPr>
          <p:cNvPr id="45" name="TextBox 44"/>
          <p:cNvSpPr txBox="1"/>
          <p:nvPr/>
        </p:nvSpPr>
        <p:spPr>
          <a:xfrm>
            <a:off x="6583680" y="4663440"/>
            <a:ext cx="2286000" cy="274320"/>
          </a:xfrm>
          <a:prstGeom prst="rect">
            <a:avLst/>
          </a:prstGeom>
          <a:noFill/>
        </p:spPr>
        <p:txBody>
          <a:bodyPr wrap="square">
            <a:spAutoFit/>
          </a:bodyPr>
          <a:lstStyle/>
          <a:p>
            <a:pPr algn="l">
              <a:defRPr sz="1300" b="1">
                <a:solidFill>
                  <a:srgbClr val="4F9DF7"/>
                </a:solidFill>
                <a:latin typeface="Calibri"/>
              </a:defRPr>
            </a:pPr>
            <a:r>
              <a:t>Search K</a:t>
            </a:r>
          </a:p>
        </p:txBody>
      </p:sp>
      <p:sp>
        <p:nvSpPr>
          <p:cNvPr id="46" name="TextBox 45"/>
          <p:cNvSpPr txBox="1"/>
          <p:nvPr/>
        </p:nvSpPr>
        <p:spPr>
          <a:xfrm>
            <a:off x="8686800" y="4663440"/>
            <a:ext cx="1097280" cy="274320"/>
          </a:xfrm>
          <a:prstGeom prst="rect">
            <a:avLst/>
          </a:prstGeom>
          <a:noFill/>
        </p:spPr>
        <p:txBody>
          <a:bodyPr wrap="square">
            <a:spAutoFit/>
          </a:bodyPr>
          <a:lstStyle/>
          <a:p>
            <a:pPr algn="l">
              <a:defRPr sz="1300" b="1">
                <a:solidFill>
                  <a:srgbClr val="FFD600"/>
                </a:solidFill>
                <a:latin typeface="Calibri"/>
              </a:defRPr>
            </a:pPr>
            <a:r>
              <a:t>50</a:t>
            </a:r>
          </a:p>
        </p:txBody>
      </p:sp>
      <p:sp>
        <p:nvSpPr>
          <p:cNvPr id="47" name="TextBox 46"/>
          <p:cNvSpPr txBox="1"/>
          <p:nvPr/>
        </p:nvSpPr>
        <p:spPr>
          <a:xfrm>
            <a:off x="6583680" y="4892040"/>
            <a:ext cx="4572000" cy="274320"/>
          </a:xfrm>
          <a:prstGeom prst="rect">
            <a:avLst/>
          </a:prstGeom>
          <a:noFill/>
        </p:spPr>
        <p:txBody>
          <a:bodyPr wrap="square">
            <a:spAutoFit/>
          </a:bodyPr>
          <a:lstStyle/>
          <a:p>
            <a:pPr algn="l">
              <a:defRPr sz="1000" b="0">
                <a:solidFill>
                  <a:srgbClr val="9999AA"/>
                </a:solidFill>
                <a:latin typeface="Calibri"/>
              </a:defRPr>
            </a:pPr>
            <a:r>
              <a:t>Top-K candidates before reranking</a:t>
            </a:r>
          </a:p>
        </p:txBody>
      </p:sp>
      <p:sp>
        <p:nvSpPr>
          <p:cNvPr id="48" name="TextBox 47"/>
          <p:cNvSpPr txBox="1"/>
          <p:nvPr/>
        </p:nvSpPr>
        <p:spPr>
          <a:xfrm>
            <a:off x="6583680" y="5193791"/>
            <a:ext cx="2286000" cy="274320"/>
          </a:xfrm>
          <a:prstGeom prst="rect">
            <a:avLst/>
          </a:prstGeom>
          <a:noFill/>
        </p:spPr>
        <p:txBody>
          <a:bodyPr wrap="square">
            <a:spAutoFit/>
          </a:bodyPr>
          <a:lstStyle/>
          <a:p>
            <a:pPr algn="l">
              <a:defRPr sz="1300" b="1">
                <a:solidFill>
                  <a:srgbClr val="4F9DF7"/>
                </a:solidFill>
                <a:latin typeface="Calibri"/>
              </a:defRPr>
            </a:pPr>
            <a:r>
              <a:t>Indexing</a:t>
            </a:r>
          </a:p>
        </p:txBody>
      </p:sp>
      <p:sp>
        <p:nvSpPr>
          <p:cNvPr id="49" name="TextBox 48"/>
          <p:cNvSpPr txBox="1"/>
          <p:nvPr/>
        </p:nvSpPr>
        <p:spPr>
          <a:xfrm>
            <a:off x="8686800" y="5193791"/>
            <a:ext cx="1097280" cy="274320"/>
          </a:xfrm>
          <a:prstGeom prst="rect">
            <a:avLst/>
          </a:prstGeom>
          <a:noFill/>
        </p:spPr>
        <p:txBody>
          <a:bodyPr wrap="square">
            <a:spAutoFit/>
          </a:bodyPr>
          <a:lstStyle/>
          <a:p>
            <a:pPr algn="l">
              <a:defRPr sz="1300" b="1">
                <a:solidFill>
                  <a:srgbClr val="FFD600"/>
                </a:solidFill>
                <a:latin typeface="Calibri"/>
              </a:defRPr>
            </a:pPr>
            <a:r>
              <a:t>Per-crop</a:t>
            </a:r>
          </a:p>
        </p:txBody>
      </p:sp>
      <p:sp>
        <p:nvSpPr>
          <p:cNvPr id="50" name="TextBox 49"/>
          <p:cNvSpPr txBox="1"/>
          <p:nvPr/>
        </p:nvSpPr>
        <p:spPr>
          <a:xfrm>
            <a:off x="6583680" y="5422391"/>
            <a:ext cx="4572000" cy="274320"/>
          </a:xfrm>
          <a:prstGeom prst="rect">
            <a:avLst/>
          </a:prstGeom>
          <a:noFill/>
        </p:spPr>
        <p:txBody>
          <a:bodyPr wrap="square">
            <a:spAutoFit/>
          </a:bodyPr>
          <a:lstStyle/>
          <a:p>
            <a:pPr algn="l">
              <a:defRPr sz="1000" b="0">
                <a:solidFill>
                  <a:srgbClr val="9999AA"/>
                </a:solidFill>
                <a:latin typeface="Calibri"/>
              </a:defRPr>
            </a:pPr>
            <a:r>
              <a:t>Separate HNSW index for each crop type</a:t>
            </a:r>
          </a:p>
        </p:txBody>
      </p:sp>
      <p:sp>
        <p:nvSpPr>
          <p:cNvPr id="51" name="TextBox 50"/>
          <p:cNvSpPr txBox="1"/>
          <p:nvPr/>
        </p:nvSpPr>
        <p:spPr>
          <a:xfrm>
            <a:off x="6583680" y="5724143"/>
            <a:ext cx="2286000" cy="274320"/>
          </a:xfrm>
          <a:prstGeom prst="rect">
            <a:avLst/>
          </a:prstGeom>
          <a:noFill/>
        </p:spPr>
        <p:txBody>
          <a:bodyPr wrap="square">
            <a:spAutoFit/>
          </a:bodyPr>
          <a:lstStyle/>
          <a:p>
            <a:pPr algn="l">
              <a:defRPr sz="1300" b="1">
                <a:solidFill>
                  <a:srgbClr val="4F9DF7"/>
                </a:solidFill>
                <a:latin typeface="Calibri"/>
              </a:defRPr>
            </a:pPr>
            <a:r>
              <a:t>Persistence</a:t>
            </a:r>
          </a:p>
        </p:txBody>
      </p:sp>
      <p:sp>
        <p:nvSpPr>
          <p:cNvPr id="52" name="TextBox 51"/>
          <p:cNvSpPr txBox="1"/>
          <p:nvPr/>
        </p:nvSpPr>
        <p:spPr>
          <a:xfrm>
            <a:off x="8686800" y="5724143"/>
            <a:ext cx="1097280" cy="274320"/>
          </a:xfrm>
          <a:prstGeom prst="rect">
            <a:avLst/>
          </a:prstGeom>
          <a:noFill/>
        </p:spPr>
        <p:txBody>
          <a:bodyPr wrap="square">
            <a:spAutoFit/>
          </a:bodyPr>
          <a:lstStyle/>
          <a:p>
            <a:pPr algn="l">
              <a:defRPr sz="1300" b="1">
                <a:solidFill>
                  <a:srgbClr val="FFD600"/>
                </a:solidFill>
                <a:latin typeface="Calibri"/>
              </a:defRPr>
            </a:pPr>
            <a:r>
              <a:t>.hnsw + .meta.json</a:t>
            </a:r>
          </a:p>
        </p:txBody>
      </p:sp>
      <p:sp>
        <p:nvSpPr>
          <p:cNvPr id="53" name="TextBox 52"/>
          <p:cNvSpPr txBox="1"/>
          <p:nvPr/>
        </p:nvSpPr>
        <p:spPr>
          <a:xfrm>
            <a:off x="6583680" y="5952743"/>
            <a:ext cx="4572000" cy="274320"/>
          </a:xfrm>
          <a:prstGeom prst="rect">
            <a:avLst/>
          </a:prstGeom>
          <a:noFill/>
        </p:spPr>
        <p:txBody>
          <a:bodyPr wrap="square">
            <a:spAutoFit/>
          </a:bodyPr>
          <a:lstStyle/>
          <a:p>
            <a:pPr algn="l">
              <a:defRPr sz="1000" b="0">
                <a:solidFill>
                  <a:srgbClr val="9999AA"/>
                </a:solidFill>
                <a:latin typeface="Calibri"/>
              </a:defRPr>
            </a:pPr>
            <a:r>
              <a:t>Saved to disk on shutdown, loaded on startup</a:t>
            </a:r>
          </a:p>
        </p:txBody>
      </p:sp>
      <p:sp>
        <p:nvSpPr>
          <p:cNvPr id="54" name="Rectangle 53"/>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4/13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0" cy="548640"/>
          </a:xfrm>
          <a:prstGeom prst="rect">
            <a:avLst/>
          </a:prstGeom>
          <a:noFill/>
        </p:spPr>
        <p:txBody>
          <a:bodyPr wrap="square">
            <a:spAutoFit/>
          </a:bodyPr>
          <a:lstStyle/>
          <a:p>
            <a:pPr algn="l">
              <a:defRPr sz="3200" b="1">
                <a:solidFill>
                  <a:srgbClr val="FFFFFF"/>
                </a:solidFill>
                <a:latin typeface="Calibri"/>
              </a:defRPr>
            </a:pPr>
            <a:r>
              <a:t>Architecture</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280160"/>
            <a:ext cx="10698480" cy="777240"/>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25880"/>
            <a:ext cx="2743200" cy="365760"/>
          </a:xfrm>
          <a:prstGeom prst="rect">
            <a:avLst/>
          </a:prstGeom>
          <a:noFill/>
        </p:spPr>
        <p:txBody>
          <a:bodyPr wrap="square">
            <a:spAutoFit/>
          </a:bodyPr>
          <a:lstStyle/>
          <a:p>
            <a:pPr algn="l">
              <a:defRPr sz="1600" b="1">
                <a:solidFill>
                  <a:srgbClr val="00C9A7"/>
                </a:solidFill>
                <a:latin typeface="Calibri"/>
              </a:defRPr>
            </a:pPr>
            <a:r>
              <a:t>Frontend Layer</a:t>
            </a:r>
          </a:p>
        </p:txBody>
      </p:sp>
      <p:sp>
        <p:nvSpPr>
          <p:cNvPr id="7" name="TextBox 6"/>
          <p:cNvSpPr txBox="1"/>
          <p:nvPr/>
        </p:nvSpPr>
        <p:spPr>
          <a:xfrm>
            <a:off x="914400" y="1664208"/>
            <a:ext cx="10058400" cy="365760"/>
          </a:xfrm>
          <a:prstGeom prst="rect">
            <a:avLst/>
          </a:prstGeom>
          <a:noFill/>
        </p:spPr>
        <p:txBody>
          <a:bodyPr wrap="square">
            <a:spAutoFit/>
          </a:bodyPr>
          <a:lstStyle/>
          <a:p>
            <a:pPr algn="l">
              <a:defRPr sz="1300" b="0">
                <a:solidFill>
                  <a:srgbClr val="CCCCCC"/>
                </a:solidFill>
                <a:latin typeface="Calibri"/>
              </a:defRPr>
            </a:pPr>
            <a:r>
              <a:t>React.js + Vite  |  Responsive SPA  |  Geolocation API  |  Multi-language (EN/HI/TE)</a:t>
            </a:r>
          </a:p>
        </p:txBody>
      </p:sp>
      <p:sp>
        <p:nvSpPr>
          <p:cNvPr id="8" name="Rectangle 7"/>
          <p:cNvSpPr/>
          <p:nvPr/>
        </p:nvSpPr>
        <p:spPr>
          <a:xfrm>
            <a:off x="731520" y="2286000"/>
            <a:ext cx="10698480" cy="777240"/>
          </a:xfrm>
          <a:prstGeom prst="rect">
            <a:avLst/>
          </a:prstGeom>
          <a:solidFill>
            <a:srgbClr val="24243E"/>
          </a:solidFill>
          <a:ln w="19050">
            <a:solidFill>
              <a:srgbClr val="4F9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743200" cy="365760"/>
          </a:xfrm>
          <a:prstGeom prst="rect">
            <a:avLst/>
          </a:prstGeom>
          <a:noFill/>
        </p:spPr>
        <p:txBody>
          <a:bodyPr wrap="square">
            <a:spAutoFit/>
          </a:bodyPr>
          <a:lstStyle/>
          <a:p>
            <a:pPr algn="l">
              <a:defRPr sz="1600" b="1">
                <a:solidFill>
                  <a:srgbClr val="4F9DF7"/>
                </a:solidFill>
                <a:latin typeface="Calibri"/>
              </a:defRPr>
            </a:pPr>
            <a:r>
              <a:t>API Layer</a:t>
            </a:r>
          </a:p>
        </p:txBody>
      </p:sp>
      <p:sp>
        <p:nvSpPr>
          <p:cNvPr id="10" name="TextBox 9"/>
          <p:cNvSpPr txBox="1"/>
          <p:nvPr/>
        </p:nvSpPr>
        <p:spPr>
          <a:xfrm>
            <a:off x="914400" y="2670048"/>
            <a:ext cx="10058400" cy="365760"/>
          </a:xfrm>
          <a:prstGeom prst="rect">
            <a:avLst/>
          </a:prstGeom>
          <a:noFill/>
        </p:spPr>
        <p:txBody>
          <a:bodyPr wrap="square">
            <a:spAutoFit/>
          </a:bodyPr>
          <a:lstStyle/>
          <a:p>
            <a:pPr algn="l">
              <a:defRPr sz="1300" b="0">
                <a:solidFill>
                  <a:srgbClr val="CCCCCC"/>
                </a:solidFill>
                <a:latin typeface="Calibri"/>
              </a:defRPr>
            </a:pPr>
            <a:r>
              <a:t>FastAPI (Python)  |  Pydantic Validation  |  RESTful Endpoints  |  CORS Middleware</a:t>
            </a:r>
          </a:p>
        </p:txBody>
      </p:sp>
      <p:sp>
        <p:nvSpPr>
          <p:cNvPr id="11" name="Rectangle 10"/>
          <p:cNvSpPr/>
          <p:nvPr/>
        </p:nvSpPr>
        <p:spPr>
          <a:xfrm>
            <a:off x="731520" y="3291840"/>
            <a:ext cx="10698480" cy="777240"/>
          </a:xfrm>
          <a:prstGeom prst="rect">
            <a:avLst/>
          </a:prstGeom>
          <a:solidFill>
            <a:srgbClr val="2424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37560"/>
            <a:ext cx="2743200" cy="365760"/>
          </a:xfrm>
          <a:prstGeom prst="rect">
            <a:avLst/>
          </a:prstGeom>
          <a:noFill/>
        </p:spPr>
        <p:txBody>
          <a:bodyPr wrap="square">
            <a:spAutoFit/>
          </a:bodyPr>
          <a:lstStyle/>
          <a:p>
            <a:pPr algn="l">
              <a:defRPr sz="1600" b="1">
                <a:solidFill>
                  <a:srgbClr val="FF8C00"/>
                </a:solidFill>
                <a:latin typeface="Calibri"/>
              </a:defRPr>
            </a:pPr>
            <a:r>
              <a:t>Service Layer</a:t>
            </a:r>
          </a:p>
        </p:txBody>
      </p:sp>
      <p:sp>
        <p:nvSpPr>
          <p:cNvPr id="13" name="TextBox 12"/>
          <p:cNvSpPr txBox="1"/>
          <p:nvPr/>
        </p:nvSpPr>
        <p:spPr>
          <a:xfrm>
            <a:off x="914400" y="3675888"/>
            <a:ext cx="10058400" cy="365760"/>
          </a:xfrm>
          <a:prstGeom prst="rect">
            <a:avLst/>
          </a:prstGeom>
          <a:noFill/>
        </p:spPr>
        <p:txBody>
          <a:bodyPr wrap="square">
            <a:spAutoFit/>
          </a:bodyPr>
          <a:lstStyle/>
          <a:p>
            <a:pPr algn="l">
              <a:defRPr sz="1300" b="0">
                <a:solidFill>
                  <a:srgbClr val="CCCCCC"/>
                </a:solidFill>
                <a:latin typeface="Calibri"/>
              </a:defRPr>
            </a:pPr>
            <a:r>
              <a:t>Vector Service  |  Feature Engineering  |  MSP Validation  |  Haversine Reranking</a:t>
            </a:r>
          </a:p>
        </p:txBody>
      </p:sp>
      <p:sp>
        <p:nvSpPr>
          <p:cNvPr id="14" name="Rectangle 13"/>
          <p:cNvSpPr/>
          <p:nvPr/>
        </p:nvSpPr>
        <p:spPr>
          <a:xfrm>
            <a:off x="731520" y="4297680"/>
            <a:ext cx="10698480" cy="777240"/>
          </a:xfrm>
          <a:prstGeom prst="rect">
            <a:avLst/>
          </a:prstGeom>
          <a:solidFill>
            <a:srgbClr val="24243E"/>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43400"/>
            <a:ext cx="2743200" cy="365760"/>
          </a:xfrm>
          <a:prstGeom prst="rect">
            <a:avLst/>
          </a:prstGeom>
          <a:noFill/>
        </p:spPr>
        <p:txBody>
          <a:bodyPr wrap="square">
            <a:spAutoFit/>
          </a:bodyPr>
          <a:lstStyle/>
          <a:p>
            <a:pPr algn="l">
              <a:defRPr sz="1600" b="1">
                <a:solidFill>
                  <a:srgbClr val="AB47BC"/>
                </a:solidFill>
                <a:latin typeface="Calibri"/>
              </a:defRPr>
            </a:pPr>
            <a:r>
              <a:t>Data Layer</a:t>
            </a:r>
          </a:p>
        </p:txBody>
      </p:sp>
      <p:sp>
        <p:nvSpPr>
          <p:cNvPr id="16" name="TextBox 15"/>
          <p:cNvSpPr txBox="1"/>
          <p:nvPr/>
        </p:nvSpPr>
        <p:spPr>
          <a:xfrm>
            <a:off x="914400" y="4681728"/>
            <a:ext cx="10058400" cy="365760"/>
          </a:xfrm>
          <a:prstGeom prst="rect">
            <a:avLst/>
          </a:prstGeom>
          <a:noFill/>
        </p:spPr>
        <p:txBody>
          <a:bodyPr wrap="square">
            <a:spAutoFit/>
          </a:bodyPr>
          <a:lstStyle/>
          <a:p>
            <a:pPr algn="l">
              <a:defRPr sz="1300" b="0">
                <a:solidFill>
                  <a:srgbClr val="CCCCCC"/>
                </a:solidFill>
                <a:latin typeface="Calibri"/>
              </a:defRPr>
            </a:pPr>
            <a:r>
              <a:t>MongoDB (Documents)  |  Redis (Job Queue)  |  HNSW Indices (Per-Crop .hnsw files)</a:t>
            </a:r>
          </a:p>
        </p:txBody>
      </p:sp>
      <p:sp>
        <p:nvSpPr>
          <p:cNvPr id="17" name="Rectangle 16"/>
          <p:cNvSpPr/>
          <p:nvPr/>
        </p:nvSpPr>
        <p:spPr>
          <a:xfrm>
            <a:off x="731520" y="5303520"/>
            <a:ext cx="10698480" cy="777240"/>
          </a:xfrm>
          <a:prstGeom prst="rect">
            <a:avLst/>
          </a:prstGeom>
          <a:solidFill>
            <a:srgbClr val="24243E"/>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49240"/>
            <a:ext cx="2743200" cy="365760"/>
          </a:xfrm>
          <a:prstGeom prst="rect">
            <a:avLst/>
          </a:prstGeom>
          <a:noFill/>
        </p:spPr>
        <p:txBody>
          <a:bodyPr wrap="square">
            <a:spAutoFit/>
          </a:bodyPr>
          <a:lstStyle/>
          <a:p>
            <a:pPr algn="l">
              <a:defRPr sz="1600" b="1">
                <a:solidFill>
                  <a:srgbClr val="EF5350"/>
                </a:solidFill>
                <a:latin typeface="Calibri"/>
              </a:defRPr>
            </a:pPr>
            <a:r>
              <a:t>Infrastructure</a:t>
            </a:r>
          </a:p>
        </p:txBody>
      </p:sp>
      <p:sp>
        <p:nvSpPr>
          <p:cNvPr id="19" name="TextBox 18"/>
          <p:cNvSpPr txBox="1"/>
          <p:nvPr/>
        </p:nvSpPr>
        <p:spPr>
          <a:xfrm>
            <a:off x="914400" y="5687568"/>
            <a:ext cx="10058400" cy="365760"/>
          </a:xfrm>
          <a:prstGeom prst="rect">
            <a:avLst/>
          </a:prstGeom>
          <a:noFill/>
        </p:spPr>
        <p:txBody>
          <a:bodyPr wrap="square">
            <a:spAutoFit/>
          </a:bodyPr>
          <a:lstStyle/>
          <a:p>
            <a:pPr algn="l">
              <a:defRPr sz="1300" b="0">
                <a:solidFill>
                  <a:srgbClr val="CCCCCC"/>
                </a:solidFill>
                <a:latin typeface="Calibri"/>
              </a:defRPr>
            </a:pPr>
            <a:r>
              <a:t>Docker Compose  |  Background Worker  |  Auto-reload Dev Server  |  Index Persistence</a:t>
            </a:r>
          </a:p>
        </p:txBody>
      </p:sp>
      <p:sp>
        <p:nvSpPr>
          <p:cNvPr id="20" name="TextBox 19"/>
          <p:cNvSpPr txBox="1"/>
          <p:nvPr/>
        </p:nvSpPr>
        <p:spPr>
          <a:xfrm>
            <a:off x="5669280" y="2057400"/>
            <a:ext cx="914400" cy="320040"/>
          </a:xfrm>
          <a:prstGeom prst="rect">
            <a:avLst/>
          </a:prstGeom>
          <a:noFill/>
        </p:spPr>
        <p:txBody>
          <a:bodyPr wrap="square">
            <a:spAutoFit/>
          </a:bodyPr>
          <a:lstStyle/>
          <a:p>
            <a:pPr algn="ctr">
              <a:defRPr sz="1800" b="0">
                <a:solidFill>
                  <a:srgbClr val="9999AA"/>
                </a:solidFill>
                <a:latin typeface="Calibri"/>
              </a:defRPr>
            </a:pPr>
            <a:r>
              <a:t>▼</a:t>
            </a:r>
          </a:p>
        </p:txBody>
      </p:sp>
      <p:sp>
        <p:nvSpPr>
          <p:cNvPr id="21" name="TextBox 20"/>
          <p:cNvSpPr txBox="1"/>
          <p:nvPr/>
        </p:nvSpPr>
        <p:spPr>
          <a:xfrm>
            <a:off x="5669280" y="3063240"/>
            <a:ext cx="914400" cy="320040"/>
          </a:xfrm>
          <a:prstGeom prst="rect">
            <a:avLst/>
          </a:prstGeom>
          <a:noFill/>
        </p:spPr>
        <p:txBody>
          <a:bodyPr wrap="square">
            <a:spAutoFit/>
          </a:bodyPr>
          <a:lstStyle/>
          <a:p>
            <a:pPr algn="ctr">
              <a:defRPr sz="1800" b="0">
                <a:solidFill>
                  <a:srgbClr val="9999AA"/>
                </a:solidFill>
                <a:latin typeface="Calibri"/>
              </a:defRPr>
            </a:pPr>
            <a:r>
              <a:t>▼</a:t>
            </a:r>
          </a:p>
        </p:txBody>
      </p:sp>
      <p:sp>
        <p:nvSpPr>
          <p:cNvPr id="22" name="TextBox 21"/>
          <p:cNvSpPr txBox="1"/>
          <p:nvPr/>
        </p:nvSpPr>
        <p:spPr>
          <a:xfrm>
            <a:off x="5669280" y="4069080"/>
            <a:ext cx="914400" cy="320040"/>
          </a:xfrm>
          <a:prstGeom prst="rect">
            <a:avLst/>
          </a:prstGeom>
          <a:noFill/>
        </p:spPr>
        <p:txBody>
          <a:bodyPr wrap="square">
            <a:spAutoFit/>
          </a:bodyPr>
          <a:lstStyle/>
          <a:p>
            <a:pPr algn="ctr">
              <a:defRPr sz="1800" b="0">
                <a:solidFill>
                  <a:srgbClr val="9999AA"/>
                </a:solidFill>
                <a:latin typeface="Calibri"/>
              </a:defRPr>
            </a:pPr>
            <a:r>
              <a:t>▼</a:t>
            </a:r>
          </a:p>
        </p:txBody>
      </p:sp>
      <p:sp>
        <p:nvSpPr>
          <p:cNvPr id="23" name="TextBox 22"/>
          <p:cNvSpPr txBox="1"/>
          <p:nvPr/>
        </p:nvSpPr>
        <p:spPr>
          <a:xfrm>
            <a:off x="5669280" y="5074920"/>
            <a:ext cx="914400" cy="320040"/>
          </a:xfrm>
          <a:prstGeom prst="rect">
            <a:avLst/>
          </a:prstGeom>
          <a:noFill/>
        </p:spPr>
        <p:txBody>
          <a:bodyPr wrap="square">
            <a:spAutoFit/>
          </a:bodyPr>
          <a:lstStyle/>
          <a:p>
            <a:pPr algn="ctr">
              <a:defRPr sz="1800" b="0">
                <a:solidFill>
                  <a:srgbClr val="9999AA"/>
                </a:solidFill>
                <a:latin typeface="Calibri"/>
              </a:defRPr>
            </a:pPr>
            <a:r>
              <a:t>▼</a:t>
            </a:r>
          </a:p>
        </p:txBody>
      </p:sp>
      <p:sp>
        <p:nvSpPr>
          <p:cNvPr id="24" name="Rectangle 23"/>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5/13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0" cy="548640"/>
          </a:xfrm>
          <a:prstGeom prst="rect">
            <a:avLst/>
          </a:prstGeom>
          <a:noFill/>
        </p:spPr>
        <p:txBody>
          <a:bodyPr wrap="square">
            <a:spAutoFit/>
          </a:bodyPr>
          <a:lstStyle/>
          <a:p>
            <a:pPr algn="l">
              <a:defRPr sz="3200" b="1">
                <a:solidFill>
                  <a:srgbClr val="FFFFFF"/>
                </a:solidFill>
                <a:latin typeface="Calibri"/>
              </a:defRPr>
            </a:pPr>
            <a:r>
              <a:t>Implementation</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188720"/>
            <a:ext cx="5394960" cy="1645920"/>
          </a:xfrm>
          <a:prstGeom prst="rect">
            <a:avLst/>
          </a:prstGeom>
          <a:solidFill>
            <a:srgbClr val="24243E"/>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5029200" cy="365760"/>
          </a:xfrm>
          <a:prstGeom prst="rect">
            <a:avLst/>
          </a:prstGeom>
          <a:noFill/>
        </p:spPr>
        <p:txBody>
          <a:bodyPr wrap="square">
            <a:spAutoFit/>
          </a:bodyPr>
          <a:lstStyle/>
          <a:p>
            <a:pPr algn="l">
              <a:defRPr sz="1600" b="1">
                <a:solidFill>
                  <a:srgbClr val="00C9A7"/>
                </a:solidFill>
                <a:latin typeface="Calibri"/>
              </a:defRPr>
            </a:pPr>
            <a:r>
              <a:t>Vector Search Engine</a:t>
            </a:r>
          </a:p>
        </p:txBody>
      </p:sp>
      <p:sp>
        <p:nvSpPr>
          <p:cNvPr id="7" name="TextBox 6"/>
          <p:cNvSpPr txBox="1"/>
          <p:nvPr/>
        </p:nvSpPr>
        <p:spPr>
          <a:xfrm>
            <a:off x="731520" y="1645920"/>
            <a:ext cx="5029200" cy="1188720"/>
          </a:xfrm>
          <a:prstGeom prst="rect">
            <a:avLst/>
          </a:prstGeom>
          <a:noFill/>
        </p:spPr>
        <p:txBody>
          <a:bodyPr wrap="square">
            <a:spAutoFit/>
          </a:bodyPr>
          <a:lstStyle/>
          <a:p>
            <a:pPr algn="l">
              <a:defRPr sz="1200" b="0">
                <a:solidFill>
                  <a:srgbClr val="CCCCCC"/>
                </a:solidFill>
                <a:latin typeface="Calibri"/>
              </a:defRPr>
            </a:pPr>
            <a:r>
              <a:t>• 54-D feature vectors (4 numeric + 50 crop one-hot)</a:t>
            </a:r>
            <a:br/>
            <a:r>
              <a:t>• Per-crop HNSW indices via hnswlib</a:t>
            </a:r>
            <a:br/>
            <a:r>
              <a:t>• Two-phase: ANN search → Haversine rerank</a:t>
            </a:r>
            <a:br/>
            <a:r>
              <a:t>• Sub-linear O(log n) search complexity</a:t>
            </a:r>
          </a:p>
        </p:txBody>
      </p:sp>
      <p:sp>
        <p:nvSpPr>
          <p:cNvPr id="8" name="Rectangle 7"/>
          <p:cNvSpPr/>
          <p:nvPr/>
        </p:nvSpPr>
        <p:spPr>
          <a:xfrm>
            <a:off x="6309360" y="1188720"/>
            <a:ext cx="5394960" cy="1645920"/>
          </a:xfrm>
          <a:prstGeom prst="rect">
            <a:avLst/>
          </a:prstGeom>
          <a:solidFill>
            <a:srgbClr val="24243E"/>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80160"/>
            <a:ext cx="5029200" cy="365760"/>
          </a:xfrm>
          <a:prstGeom prst="rect">
            <a:avLst/>
          </a:prstGeom>
          <a:noFill/>
        </p:spPr>
        <p:txBody>
          <a:bodyPr wrap="square">
            <a:spAutoFit/>
          </a:bodyPr>
          <a:lstStyle/>
          <a:p>
            <a:pPr algn="l">
              <a:defRPr sz="1600" b="1">
                <a:solidFill>
                  <a:srgbClr val="2E7D32"/>
                </a:solidFill>
                <a:latin typeface="Calibri"/>
              </a:defRPr>
            </a:pPr>
            <a:r>
              <a:t>MSP Price Validation</a:t>
            </a:r>
          </a:p>
        </p:txBody>
      </p:sp>
      <p:sp>
        <p:nvSpPr>
          <p:cNvPr id="10" name="TextBox 9"/>
          <p:cNvSpPr txBox="1"/>
          <p:nvPr/>
        </p:nvSpPr>
        <p:spPr>
          <a:xfrm>
            <a:off x="6492240" y="1645920"/>
            <a:ext cx="5029200" cy="1188720"/>
          </a:xfrm>
          <a:prstGeom prst="rect">
            <a:avLst/>
          </a:prstGeom>
          <a:noFill/>
        </p:spPr>
        <p:txBody>
          <a:bodyPr wrap="square">
            <a:spAutoFit/>
          </a:bodyPr>
          <a:lstStyle/>
          <a:p>
            <a:pPr algn="l">
              <a:defRPr sz="1200" b="0">
                <a:solidFill>
                  <a:srgbClr val="CCCCCC"/>
                </a:solidFill>
                <a:latin typeface="Calibri"/>
              </a:defRPr>
            </a:pPr>
            <a:r>
              <a:t>• Government MSP rates for all 50 crops</a:t>
            </a:r>
            <a:br/>
            <a:r>
              <a:t>• Server-side enforcement — no below-MSP listings</a:t>
            </a:r>
            <a:br/>
            <a:r>
              <a:t>• Protects farmers from unfair pricing</a:t>
            </a:r>
            <a:br/>
            <a:r>
              <a:t>• Auto-validated on every search result</a:t>
            </a:r>
          </a:p>
        </p:txBody>
      </p:sp>
      <p:sp>
        <p:nvSpPr>
          <p:cNvPr id="11" name="Rectangle 10"/>
          <p:cNvSpPr/>
          <p:nvPr/>
        </p:nvSpPr>
        <p:spPr>
          <a:xfrm>
            <a:off x="548640" y="3017520"/>
            <a:ext cx="5394960" cy="1645920"/>
          </a:xfrm>
          <a:prstGeom prst="rect">
            <a:avLst/>
          </a:prstGeom>
          <a:solidFill>
            <a:srgbClr val="24243E"/>
          </a:solidFill>
          <a:ln w="19050">
            <a:solidFill>
              <a:srgbClr val="4F9D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108960"/>
            <a:ext cx="5029200" cy="365760"/>
          </a:xfrm>
          <a:prstGeom prst="rect">
            <a:avLst/>
          </a:prstGeom>
          <a:noFill/>
        </p:spPr>
        <p:txBody>
          <a:bodyPr wrap="square">
            <a:spAutoFit/>
          </a:bodyPr>
          <a:lstStyle/>
          <a:p>
            <a:pPr algn="l">
              <a:defRPr sz="1600" b="1">
                <a:solidFill>
                  <a:srgbClr val="4F9DF7"/>
                </a:solidFill>
                <a:latin typeface="Calibri"/>
              </a:defRPr>
            </a:pPr>
            <a:r>
              <a:t>Async Queue Pipeline</a:t>
            </a:r>
          </a:p>
        </p:txBody>
      </p:sp>
      <p:sp>
        <p:nvSpPr>
          <p:cNvPr id="13" name="TextBox 12"/>
          <p:cNvSpPr txBox="1"/>
          <p:nvPr/>
        </p:nvSpPr>
        <p:spPr>
          <a:xfrm>
            <a:off x="731520" y="3474720"/>
            <a:ext cx="5029200" cy="1188720"/>
          </a:xfrm>
          <a:prstGeom prst="rect">
            <a:avLst/>
          </a:prstGeom>
          <a:noFill/>
        </p:spPr>
        <p:txBody>
          <a:bodyPr wrap="square">
            <a:spAutoFit/>
          </a:bodyPr>
          <a:lstStyle/>
          <a:p>
            <a:pPr algn="l">
              <a:defRPr sz="1200" b="0">
                <a:solidFill>
                  <a:srgbClr val="CCCCCC"/>
                </a:solidFill>
                <a:latin typeface="Calibri"/>
              </a:defRPr>
            </a:pPr>
            <a:r>
              <a:t>• Redis-backed BRPOP insertion queue</a:t>
            </a:r>
            <a:br/>
            <a:r>
              <a:t>• Background worker for HNSW indexing</a:t>
            </a:r>
            <a:br/>
            <a:r>
              <a:t>• Non-blocking upload → instant farmer response</a:t>
            </a:r>
            <a:br/>
            <a:r>
              <a:t>• Decouples API from heavy index operations</a:t>
            </a:r>
          </a:p>
        </p:txBody>
      </p:sp>
      <p:sp>
        <p:nvSpPr>
          <p:cNvPr id="14" name="Rectangle 13"/>
          <p:cNvSpPr/>
          <p:nvPr/>
        </p:nvSpPr>
        <p:spPr>
          <a:xfrm>
            <a:off x="6309360" y="3017520"/>
            <a:ext cx="5394960" cy="1645920"/>
          </a:xfrm>
          <a:prstGeom prst="rect">
            <a:avLst/>
          </a:prstGeom>
          <a:solidFill>
            <a:srgbClr val="24243E"/>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108960"/>
            <a:ext cx="5029200" cy="365760"/>
          </a:xfrm>
          <a:prstGeom prst="rect">
            <a:avLst/>
          </a:prstGeom>
          <a:noFill/>
        </p:spPr>
        <p:txBody>
          <a:bodyPr wrap="square">
            <a:spAutoFit/>
          </a:bodyPr>
          <a:lstStyle/>
          <a:p>
            <a:pPr algn="l">
              <a:defRPr sz="1600" b="1">
                <a:solidFill>
                  <a:srgbClr val="FF8C00"/>
                </a:solidFill>
                <a:latin typeface="Calibri"/>
              </a:defRPr>
            </a:pPr>
            <a:r>
              <a:t>Geolocation &amp; Distance</a:t>
            </a:r>
          </a:p>
        </p:txBody>
      </p:sp>
      <p:sp>
        <p:nvSpPr>
          <p:cNvPr id="16" name="TextBox 15"/>
          <p:cNvSpPr txBox="1"/>
          <p:nvPr/>
        </p:nvSpPr>
        <p:spPr>
          <a:xfrm>
            <a:off x="6492240" y="3474720"/>
            <a:ext cx="5029200" cy="1188720"/>
          </a:xfrm>
          <a:prstGeom prst="rect">
            <a:avLst/>
          </a:prstGeom>
          <a:noFill/>
        </p:spPr>
        <p:txBody>
          <a:bodyPr wrap="square">
            <a:spAutoFit/>
          </a:bodyPr>
          <a:lstStyle/>
          <a:p>
            <a:pPr algn="l">
              <a:defRPr sz="1200" b="0">
                <a:solidFill>
                  <a:srgbClr val="CCCCCC"/>
                </a:solidFill>
                <a:latin typeface="Calibri"/>
              </a:defRPr>
            </a:pPr>
            <a:r>
              <a:t>• Browser Geolocation API for auto GPS</a:t>
            </a:r>
            <a:br/>
            <a:r>
              <a:t>• Haversine great-circle distance (km)</a:t>
            </a:r>
            <a:br/>
            <a:r>
              <a:t>• Radius-based filtering post-search</a:t>
            </a:r>
            <a:br/>
            <a:r>
              <a:t>• Results sorted by real-world proximity</a:t>
            </a:r>
          </a:p>
        </p:txBody>
      </p:sp>
      <p:sp>
        <p:nvSpPr>
          <p:cNvPr id="17" name="Rectangle 16"/>
          <p:cNvSpPr/>
          <p:nvPr/>
        </p:nvSpPr>
        <p:spPr>
          <a:xfrm>
            <a:off x="548640" y="4846320"/>
            <a:ext cx="5394960" cy="1645920"/>
          </a:xfrm>
          <a:prstGeom prst="rect">
            <a:avLst/>
          </a:prstGeom>
          <a:solidFill>
            <a:srgbClr val="24243E"/>
          </a:solidFill>
          <a:ln w="19050">
            <a:solidFill>
              <a:srgbClr val="AB47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937760"/>
            <a:ext cx="5029200" cy="365760"/>
          </a:xfrm>
          <a:prstGeom prst="rect">
            <a:avLst/>
          </a:prstGeom>
          <a:noFill/>
        </p:spPr>
        <p:txBody>
          <a:bodyPr wrap="square">
            <a:spAutoFit/>
          </a:bodyPr>
          <a:lstStyle/>
          <a:p>
            <a:pPr algn="l">
              <a:defRPr sz="1600" b="1">
                <a:solidFill>
                  <a:srgbClr val="AB47BC"/>
                </a:solidFill>
                <a:latin typeface="Calibri"/>
              </a:defRPr>
            </a:pPr>
            <a:r>
              <a:t>Data Persistence</a:t>
            </a:r>
          </a:p>
        </p:txBody>
      </p:sp>
      <p:sp>
        <p:nvSpPr>
          <p:cNvPr id="19" name="TextBox 18"/>
          <p:cNvSpPr txBox="1"/>
          <p:nvPr/>
        </p:nvSpPr>
        <p:spPr>
          <a:xfrm>
            <a:off x="731520" y="5303520"/>
            <a:ext cx="5029200" cy="1188720"/>
          </a:xfrm>
          <a:prstGeom prst="rect">
            <a:avLst/>
          </a:prstGeom>
          <a:noFill/>
        </p:spPr>
        <p:txBody>
          <a:bodyPr wrap="square">
            <a:spAutoFit/>
          </a:bodyPr>
          <a:lstStyle/>
          <a:p>
            <a:pPr algn="l">
              <a:defRPr sz="1200" b="0">
                <a:solidFill>
                  <a:srgbClr val="CCCCCC"/>
                </a:solidFill>
                <a:latin typeface="Calibri"/>
              </a:defRPr>
            </a:pPr>
            <a:r>
              <a:t>• HNSW indices saved as .hnsw binary files</a:t>
            </a:r>
            <a:br/>
            <a:r>
              <a:t>• Metadata in .meta.json (ID mapping)</a:t>
            </a:r>
            <a:br/>
            <a:r>
              <a:t>• Auto-load on startup, save on shutdown</a:t>
            </a:r>
            <a:br/>
            <a:r>
              <a:t>• MongoDB for all listing documents</a:t>
            </a:r>
          </a:p>
        </p:txBody>
      </p:sp>
      <p:sp>
        <p:nvSpPr>
          <p:cNvPr id="20" name="Rectangle 19"/>
          <p:cNvSpPr/>
          <p:nvPr/>
        </p:nvSpPr>
        <p:spPr>
          <a:xfrm>
            <a:off x="6309360" y="4846320"/>
            <a:ext cx="5394960" cy="1645920"/>
          </a:xfrm>
          <a:prstGeom prst="rect">
            <a:avLst/>
          </a:prstGeom>
          <a:solidFill>
            <a:srgbClr val="24243E"/>
          </a:solidFill>
          <a:ln w="19050">
            <a:solidFill>
              <a:srgbClr val="EF53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937760"/>
            <a:ext cx="5029200" cy="365760"/>
          </a:xfrm>
          <a:prstGeom prst="rect">
            <a:avLst/>
          </a:prstGeom>
          <a:noFill/>
        </p:spPr>
        <p:txBody>
          <a:bodyPr wrap="square">
            <a:spAutoFit/>
          </a:bodyPr>
          <a:lstStyle/>
          <a:p>
            <a:pPr algn="l">
              <a:defRPr sz="1600" b="1">
                <a:solidFill>
                  <a:srgbClr val="EF5350"/>
                </a:solidFill>
                <a:latin typeface="Calibri"/>
              </a:defRPr>
            </a:pPr>
            <a:r>
              <a:t>Frontend SPA</a:t>
            </a:r>
          </a:p>
        </p:txBody>
      </p:sp>
      <p:sp>
        <p:nvSpPr>
          <p:cNvPr id="22" name="TextBox 21"/>
          <p:cNvSpPr txBox="1"/>
          <p:nvPr/>
        </p:nvSpPr>
        <p:spPr>
          <a:xfrm>
            <a:off x="6492240" y="5303520"/>
            <a:ext cx="5029200" cy="1188720"/>
          </a:xfrm>
          <a:prstGeom prst="rect">
            <a:avLst/>
          </a:prstGeom>
          <a:noFill/>
        </p:spPr>
        <p:txBody>
          <a:bodyPr wrap="square">
            <a:spAutoFit/>
          </a:bodyPr>
          <a:lstStyle/>
          <a:p>
            <a:pPr algn="l">
              <a:defRPr sz="1200" b="0">
                <a:solidFill>
                  <a:srgbClr val="CCCCCC"/>
                </a:solidFill>
                <a:latin typeface="Calibri"/>
              </a:defRPr>
            </a:pPr>
            <a:r>
              <a:t>• React.js with Vite build system</a:t>
            </a:r>
            <a:br/>
            <a:r>
              <a:t>• Protected routes + auth context</a:t>
            </a:r>
            <a:br/>
            <a:r>
              <a:t>• Multi-language support (EN/HI/TE)</a:t>
            </a:r>
            <a:br/>
            <a:r>
              <a:t>• Responsive dashboard for both roles</a:t>
            </a:r>
          </a:p>
        </p:txBody>
      </p:sp>
      <p:sp>
        <p:nvSpPr>
          <p:cNvPr id="23" name="Rectangle 22"/>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6/13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Homepage &amp; Authentication</a:t>
            </a:r>
          </a:p>
        </p:txBody>
      </p:sp>
      <p:sp>
        <p:nvSpPr>
          <p:cNvPr id="4" name="Rectangle 3"/>
          <p:cNvSpPr/>
          <p:nvPr/>
        </p:nvSpPr>
        <p:spPr>
          <a:xfrm>
            <a:off x="548640" y="77724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0698480" cy="5120640"/>
          </a:xfrm>
          <a:prstGeom prst="rect">
            <a:avLst/>
          </a:prstGeom>
          <a:solidFill>
            <a:srgbClr val="1A1A2A"/>
          </a:solidFill>
          <a:ln w="1905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2926080"/>
            <a:ext cx="5486400" cy="1371600"/>
          </a:xfrm>
          <a:prstGeom prst="rect">
            <a:avLst/>
          </a:prstGeom>
          <a:noFill/>
        </p:spPr>
        <p:txBody>
          <a:bodyPr wrap="square">
            <a:spAutoFit/>
          </a:bodyPr>
          <a:lstStyle/>
          <a:p>
            <a:pPr algn="ctr">
              <a:defRPr sz="1800" b="0">
                <a:solidFill>
                  <a:srgbClr val="9999AA"/>
                </a:solidFill>
                <a:latin typeface="Calibri"/>
              </a:defRPr>
            </a:pPr>
            <a:r>
              <a:t>[ Insert Screenshot Here ]</a:t>
            </a:r>
            <a:br/>
            <a:r>
              <a:t>Landing page with role-based login (Farmer / Merchant)</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7/13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Farmer Dashboard &amp; Upload</a:t>
            </a:r>
          </a:p>
        </p:txBody>
      </p:sp>
      <p:sp>
        <p:nvSpPr>
          <p:cNvPr id="4" name="Rectangle 3"/>
          <p:cNvSpPr/>
          <p:nvPr/>
        </p:nvSpPr>
        <p:spPr>
          <a:xfrm>
            <a:off x="548640" y="77724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0698480" cy="5120640"/>
          </a:xfrm>
          <a:prstGeom prst="rect">
            <a:avLst/>
          </a:prstGeom>
          <a:solidFill>
            <a:srgbClr val="1A1A2A"/>
          </a:solidFill>
          <a:ln w="1905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2926080"/>
            <a:ext cx="5486400" cy="1371600"/>
          </a:xfrm>
          <a:prstGeom prst="rect">
            <a:avLst/>
          </a:prstGeom>
          <a:noFill/>
        </p:spPr>
        <p:txBody>
          <a:bodyPr wrap="square">
            <a:spAutoFit/>
          </a:bodyPr>
          <a:lstStyle/>
          <a:p>
            <a:pPr algn="ctr">
              <a:defRPr sz="1800" b="0">
                <a:solidFill>
                  <a:srgbClr val="9999AA"/>
                </a:solidFill>
                <a:latin typeface="Calibri"/>
              </a:defRPr>
            </a:pPr>
            <a:r>
              <a:t>[ Insert Screenshot Here ]</a:t>
            </a:r>
            <a:br/>
            <a:r>
              <a:t>Crop upload form with GPS auto-detection and MSP display</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8/13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Merchant Search &amp; Results</a:t>
            </a:r>
          </a:p>
        </p:txBody>
      </p:sp>
      <p:sp>
        <p:nvSpPr>
          <p:cNvPr id="4" name="Rectangle 3"/>
          <p:cNvSpPr/>
          <p:nvPr/>
        </p:nvSpPr>
        <p:spPr>
          <a:xfrm>
            <a:off x="548640" y="77724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0698480" cy="5120640"/>
          </a:xfrm>
          <a:prstGeom prst="rect">
            <a:avLst/>
          </a:prstGeom>
          <a:solidFill>
            <a:srgbClr val="1A1A2A"/>
          </a:solidFill>
          <a:ln w="1905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2926080"/>
            <a:ext cx="5486400" cy="1371600"/>
          </a:xfrm>
          <a:prstGeom prst="rect">
            <a:avLst/>
          </a:prstGeom>
          <a:noFill/>
        </p:spPr>
        <p:txBody>
          <a:bodyPr wrap="square">
            <a:spAutoFit/>
          </a:bodyPr>
          <a:lstStyle/>
          <a:p>
            <a:pPr algn="ctr">
              <a:defRPr sz="1800" b="0">
                <a:solidFill>
                  <a:srgbClr val="9999AA"/>
                </a:solidFill>
                <a:latin typeface="Calibri"/>
              </a:defRPr>
            </a:pPr>
            <a:r>
              <a:t>[ Insert Screenshot Here ]</a:t>
            </a:r>
            <a:br/>
            <a:r>
              <a:t>Find Farmers page with HNSW-powered matching results</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9/13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Farmers Database (Live)</a:t>
            </a:r>
          </a:p>
        </p:txBody>
      </p:sp>
      <p:sp>
        <p:nvSpPr>
          <p:cNvPr id="4" name="Rectangle 3"/>
          <p:cNvSpPr/>
          <p:nvPr/>
        </p:nvSpPr>
        <p:spPr>
          <a:xfrm>
            <a:off x="548640" y="77724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0698480" cy="5120640"/>
          </a:xfrm>
          <a:prstGeom prst="rect">
            <a:avLst/>
          </a:prstGeom>
          <a:solidFill>
            <a:srgbClr val="1A1A2A"/>
          </a:solidFill>
          <a:ln w="1905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2926080"/>
            <a:ext cx="5486400" cy="1371600"/>
          </a:xfrm>
          <a:prstGeom prst="rect">
            <a:avLst/>
          </a:prstGeom>
          <a:noFill/>
        </p:spPr>
        <p:txBody>
          <a:bodyPr wrap="square">
            <a:spAutoFit/>
          </a:bodyPr>
          <a:lstStyle/>
          <a:p>
            <a:pPr algn="ctr">
              <a:defRPr sz="1800" b="0">
                <a:solidFill>
                  <a:srgbClr val="9999AA"/>
                </a:solidFill>
                <a:latin typeface="Calibri"/>
              </a:defRPr>
            </a:pPr>
            <a:r>
              <a:t>[ Insert Screenshot Here ]</a:t>
            </a:r>
            <a:br/>
            <a:r>
              <a:t>Real-time MongoDB viewer with 100+ listings and location names</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10/13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9144000" cy="548640"/>
          </a:xfrm>
          <a:prstGeom prst="rect">
            <a:avLst/>
          </a:prstGeom>
          <a:noFill/>
        </p:spPr>
        <p:txBody>
          <a:bodyPr wrap="square">
            <a:spAutoFit/>
          </a:bodyPr>
          <a:lstStyle/>
          <a:p>
            <a:pPr algn="l">
              <a:defRPr sz="2800" b="1">
                <a:solidFill>
                  <a:srgbClr val="FFFFFF"/>
                </a:solidFill>
                <a:latin typeface="Calibri"/>
              </a:defRPr>
            </a:pPr>
            <a:r>
              <a:t>HNSW Visualization (3D)</a:t>
            </a:r>
          </a:p>
        </p:txBody>
      </p:sp>
      <p:sp>
        <p:nvSpPr>
          <p:cNvPr id="4" name="Rectangle 3"/>
          <p:cNvSpPr/>
          <p:nvPr/>
        </p:nvSpPr>
        <p:spPr>
          <a:xfrm>
            <a:off x="548640" y="77724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0698480" cy="5120640"/>
          </a:xfrm>
          <a:prstGeom prst="rect">
            <a:avLst/>
          </a:prstGeom>
          <a:solidFill>
            <a:srgbClr val="1A1A2A"/>
          </a:solidFill>
          <a:ln w="1905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0" y="2926080"/>
            <a:ext cx="5486400" cy="1371600"/>
          </a:xfrm>
          <a:prstGeom prst="rect">
            <a:avLst/>
          </a:prstGeom>
          <a:noFill/>
        </p:spPr>
        <p:txBody>
          <a:bodyPr wrap="square">
            <a:spAutoFit/>
          </a:bodyPr>
          <a:lstStyle/>
          <a:p>
            <a:pPr algn="ctr">
              <a:defRPr sz="1800" b="0">
                <a:solidFill>
                  <a:srgbClr val="9999AA"/>
                </a:solidFill>
                <a:latin typeface="Calibri"/>
              </a:defRPr>
            </a:pPr>
            <a:r>
              <a:t>[ Insert Screenshot Here ]</a:t>
            </a:r>
            <a:br/>
            <a:r>
              <a:t>Interactive Three.js visualization of HNSW graph traversal</a:t>
            </a:r>
          </a:p>
        </p:txBody>
      </p:sp>
      <p:sp>
        <p:nvSpPr>
          <p:cNvPr id="7" name="Rectangle 6"/>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11/13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486400" cy="548640"/>
          </a:xfrm>
          <a:prstGeom prst="rect">
            <a:avLst/>
          </a:prstGeom>
          <a:noFill/>
        </p:spPr>
        <p:txBody>
          <a:bodyPr wrap="square">
            <a:spAutoFit/>
          </a:bodyPr>
          <a:lstStyle/>
          <a:p>
            <a:pPr algn="l">
              <a:defRPr sz="3200" b="1">
                <a:solidFill>
                  <a:srgbClr val="FFFFFF"/>
                </a:solidFill>
                <a:latin typeface="Calibri"/>
              </a:defRPr>
            </a:pPr>
            <a:r>
              <a:t>References &amp; Links</a:t>
            </a:r>
          </a:p>
        </p:txBody>
      </p:sp>
      <p:sp>
        <p:nvSpPr>
          <p:cNvPr id="4" name="Rectangle 3"/>
          <p:cNvSpPr/>
          <p:nvPr/>
        </p:nvSpPr>
        <p:spPr>
          <a:xfrm>
            <a:off x="548640" y="868680"/>
            <a:ext cx="22860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80160"/>
            <a:ext cx="9144000" cy="457200"/>
          </a:xfrm>
          <a:prstGeom prst="rect">
            <a:avLst/>
          </a:prstGeom>
          <a:noFill/>
        </p:spPr>
        <p:txBody>
          <a:bodyPr wrap="square">
            <a:spAutoFit/>
          </a:bodyPr>
          <a:lstStyle/>
          <a:p>
            <a:pPr algn="l">
              <a:defRPr sz="2000" b="1">
                <a:solidFill>
                  <a:srgbClr val="00C9A7"/>
                </a:solidFill>
                <a:latin typeface="Calibri"/>
              </a:defRPr>
            </a:pPr>
            <a:r>
              <a:t>Technologies Used</a:t>
            </a:r>
          </a:p>
        </p:txBody>
      </p:sp>
      <p:sp>
        <p:nvSpPr>
          <p:cNvPr id="6" name="TextBox 5"/>
          <p:cNvSpPr txBox="1"/>
          <p:nvPr/>
        </p:nvSpPr>
        <p:spPr>
          <a:xfrm>
            <a:off x="1097280" y="1737360"/>
            <a:ext cx="1828800" cy="320040"/>
          </a:xfrm>
          <a:prstGeom prst="rect">
            <a:avLst/>
          </a:prstGeom>
          <a:noFill/>
        </p:spPr>
        <p:txBody>
          <a:bodyPr wrap="square">
            <a:spAutoFit/>
          </a:bodyPr>
          <a:lstStyle/>
          <a:p>
            <a:pPr algn="l">
              <a:defRPr sz="1300" b="1">
                <a:solidFill>
                  <a:srgbClr val="FFFFFF"/>
                </a:solidFill>
                <a:latin typeface="Calibri"/>
              </a:defRPr>
            </a:pPr>
            <a:r>
              <a:t>Backend</a:t>
            </a:r>
          </a:p>
        </p:txBody>
      </p:sp>
      <p:sp>
        <p:nvSpPr>
          <p:cNvPr id="7" name="TextBox 6"/>
          <p:cNvSpPr txBox="1"/>
          <p:nvPr/>
        </p:nvSpPr>
        <p:spPr>
          <a:xfrm>
            <a:off x="3200400" y="1737360"/>
            <a:ext cx="8229600" cy="320040"/>
          </a:xfrm>
          <a:prstGeom prst="rect">
            <a:avLst/>
          </a:prstGeom>
          <a:noFill/>
        </p:spPr>
        <p:txBody>
          <a:bodyPr wrap="square">
            <a:spAutoFit/>
          </a:bodyPr>
          <a:lstStyle/>
          <a:p>
            <a:pPr algn="l">
              <a:defRPr sz="1200" b="0">
                <a:solidFill>
                  <a:srgbClr val="CCCCCC"/>
                </a:solidFill>
                <a:latin typeface="Calibri"/>
              </a:defRPr>
            </a:pPr>
            <a:r>
              <a:t>FastAPI (Python 3.11) — High-performance async web framework</a:t>
            </a:r>
          </a:p>
        </p:txBody>
      </p:sp>
      <p:sp>
        <p:nvSpPr>
          <p:cNvPr id="8" name="TextBox 7"/>
          <p:cNvSpPr txBox="1"/>
          <p:nvPr/>
        </p:nvSpPr>
        <p:spPr>
          <a:xfrm>
            <a:off x="1097280" y="2057400"/>
            <a:ext cx="1828800" cy="320040"/>
          </a:xfrm>
          <a:prstGeom prst="rect">
            <a:avLst/>
          </a:prstGeom>
          <a:noFill/>
        </p:spPr>
        <p:txBody>
          <a:bodyPr wrap="square">
            <a:spAutoFit/>
          </a:bodyPr>
          <a:lstStyle/>
          <a:p>
            <a:pPr algn="l">
              <a:defRPr sz="1300" b="1">
                <a:solidFill>
                  <a:srgbClr val="FFFFFF"/>
                </a:solidFill>
                <a:latin typeface="Calibri"/>
              </a:defRPr>
            </a:pPr>
            <a:r>
              <a:t>Frontend</a:t>
            </a:r>
          </a:p>
        </p:txBody>
      </p:sp>
      <p:sp>
        <p:nvSpPr>
          <p:cNvPr id="9" name="TextBox 8"/>
          <p:cNvSpPr txBox="1"/>
          <p:nvPr/>
        </p:nvSpPr>
        <p:spPr>
          <a:xfrm>
            <a:off x="3200400" y="2057400"/>
            <a:ext cx="8229600" cy="320040"/>
          </a:xfrm>
          <a:prstGeom prst="rect">
            <a:avLst/>
          </a:prstGeom>
          <a:noFill/>
        </p:spPr>
        <p:txBody>
          <a:bodyPr wrap="square">
            <a:spAutoFit/>
          </a:bodyPr>
          <a:lstStyle/>
          <a:p>
            <a:pPr algn="l">
              <a:defRPr sz="1200" b="0">
                <a:solidFill>
                  <a:srgbClr val="CCCCCC"/>
                </a:solidFill>
                <a:latin typeface="Calibri"/>
              </a:defRPr>
            </a:pPr>
            <a:r>
              <a:t>React.js 18 + Vite — Modern SPA with hot module reload</a:t>
            </a:r>
          </a:p>
        </p:txBody>
      </p:sp>
      <p:sp>
        <p:nvSpPr>
          <p:cNvPr id="10" name="TextBox 9"/>
          <p:cNvSpPr txBox="1"/>
          <p:nvPr/>
        </p:nvSpPr>
        <p:spPr>
          <a:xfrm>
            <a:off x="1097280" y="2377440"/>
            <a:ext cx="1828800" cy="320040"/>
          </a:xfrm>
          <a:prstGeom prst="rect">
            <a:avLst/>
          </a:prstGeom>
          <a:noFill/>
        </p:spPr>
        <p:txBody>
          <a:bodyPr wrap="square">
            <a:spAutoFit/>
          </a:bodyPr>
          <a:lstStyle/>
          <a:p>
            <a:pPr algn="l">
              <a:defRPr sz="1300" b="1">
                <a:solidFill>
                  <a:srgbClr val="FFFFFF"/>
                </a:solidFill>
                <a:latin typeface="Calibri"/>
              </a:defRPr>
            </a:pPr>
            <a:r>
              <a:t>Database</a:t>
            </a:r>
          </a:p>
        </p:txBody>
      </p:sp>
      <p:sp>
        <p:nvSpPr>
          <p:cNvPr id="11" name="TextBox 10"/>
          <p:cNvSpPr txBox="1"/>
          <p:nvPr/>
        </p:nvSpPr>
        <p:spPr>
          <a:xfrm>
            <a:off x="3200400" y="2377440"/>
            <a:ext cx="8229600" cy="320040"/>
          </a:xfrm>
          <a:prstGeom prst="rect">
            <a:avLst/>
          </a:prstGeom>
          <a:noFill/>
        </p:spPr>
        <p:txBody>
          <a:bodyPr wrap="square">
            <a:spAutoFit/>
          </a:bodyPr>
          <a:lstStyle/>
          <a:p>
            <a:pPr algn="l">
              <a:defRPr sz="1200" b="0">
                <a:solidFill>
                  <a:srgbClr val="CCCCCC"/>
                </a:solidFill>
                <a:latin typeface="Calibri"/>
              </a:defRPr>
            </a:pPr>
            <a:r>
              <a:t>MongoDB 7 — Document store for farmer listings</a:t>
            </a:r>
          </a:p>
        </p:txBody>
      </p:sp>
      <p:sp>
        <p:nvSpPr>
          <p:cNvPr id="12" name="TextBox 11"/>
          <p:cNvSpPr txBox="1"/>
          <p:nvPr/>
        </p:nvSpPr>
        <p:spPr>
          <a:xfrm>
            <a:off x="1097280" y="2697480"/>
            <a:ext cx="1828800" cy="320040"/>
          </a:xfrm>
          <a:prstGeom prst="rect">
            <a:avLst/>
          </a:prstGeom>
          <a:noFill/>
        </p:spPr>
        <p:txBody>
          <a:bodyPr wrap="square">
            <a:spAutoFit/>
          </a:bodyPr>
          <a:lstStyle/>
          <a:p>
            <a:pPr algn="l">
              <a:defRPr sz="1300" b="1">
                <a:solidFill>
                  <a:srgbClr val="FFFFFF"/>
                </a:solidFill>
                <a:latin typeface="Calibri"/>
              </a:defRPr>
            </a:pPr>
            <a:r>
              <a:t>Queue</a:t>
            </a:r>
          </a:p>
        </p:txBody>
      </p:sp>
      <p:sp>
        <p:nvSpPr>
          <p:cNvPr id="13" name="TextBox 12"/>
          <p:cNvSpPr txBox="1"/>
          <p:nvPr/>
        </p:nvSpPr>
        <p:spPr>
          <a:xfrm>
            <a:off x="3200400" y="2697480"/>
            <a:ext cx="8229600" cy="320040"/>
          </a:xfrm>
          <a:prstGeom prst="rect">
            <a:avLst/>
          </a:prstGeom>
          <a:noFill/>
        </p:spPr>
        <p:txBody>
          <a:bodyPr wrap="square">
            <a:spAutoFit/>
          </a:bodyPr>
          <a:lstStyle/>
          <a:p>
            <a:pPr algn="l">
              <a:defRPr sz="1200" b="0">
                <a:solidFill>
                  <a:srgbClr val="CCCCCC"/>
                </a:solidFill>
                <a:latin typeface="Calibri"/>
              </a:defRPr>
            </a:pPr>
            <a:r>
              <a:t>Redis 7 — In-memory job queue for async HNSW insertion</a:t>
            </a:r>
          </a:p>
        </p:txBody>
      </p:sp>
      <p:sp>
        <p:nvSpPr>
          <p:cNvPr id="14" name="TextBox 13"/>
          <p:cNvSpPr txBox="1"/>
          <p:nvPr/>
        </p:nvSpPr>
        <p:spPr>
          <a:xfrm>
            <a:off x="1097280" y="3017520"/>
            <a:ext cx="1828800" cy="320040"/>
          </a:xfrm>
          <a:prstGeom prst="rect">
            <a:avLst/>
          </a:prstGeom>
          <a:noFill/>
        </p:spPr>
        <p:txBody>
          <a:bodyPr wrap="square">
            <a:spAutoFit/>
          </a:bodyPr>
          <a:lstStyle/>
          <a:p>
            <a:pPr algn="l">
              <a:defRPr sz="1300" b="1">
                <a:solidFill>
                  <a:srgbClr val="FFFFFF"/>
                </a:solidFill>
                <a:latin typeface="Calibri"/>
              </a:defRPr>
            </a:pPr>
            <a:r>
              <a:t>Vector Search</a:t>
            </a:r>
          </a:p>
        </p:txBody>
      </p:sp>
      <p:sp>
        <p:nvSpPr>
          <p:cNvPr id="15" name="TextBox 14"/>
          <p:cNvSpPr txBox="1"/>
          <p:nvPr/>
        </p:nvSpPr>
        <p:spPr>
          <a:xfrm>
            <a:off x="3200400" y="3017520"/>
            <a:ext cx="8229600" cy="320040"/>
          </a:xfrm>
          <a:prstGeom prst="rect">
            <a:avLst/>
          </a:prstGeom>
          <a:noFill/>
        </p:spPr>
        <p:txBody>
          <a:bodyPr wrap="square">
            <a:spAutoFit/>
          </a:bodyPr>
          <a:lstStyle/>
          <a:p>
            <a:pPr algn="l">
              <a:defRPr sz="1200" b="0">
                <a:solidFill>
                  <a:srgbClr val="CCCCCC"/>
                </a:solidFill>
                <a:latin typeface="Calibri"/>
              </a:defRPr>
            </a:pPr>
            <a:r>
              <a:t>hnswlib — C++ HNSW with Python bindings</a:t>
            </a:r>
          </a:p>
        </p:txBody>
      </p:sp>
      <p:sp>
        <p:nvSpPr>
          <p:cNvPr id="16" name="TextBox 15"/>
          <p:cNvSpPr txBox="1"/>
          <p:nvPr/>
        </p:nvSpPr>
        <p:spPr>
          <a:xfrm>
            <a:off x="1097280" y="3337560"/>
            <a:ext cx="1828800" cy="320040"/>
          </a:xfrm>
          <a:prstGeom prst="rect">
            <a:avLst/>
          </a:prstGeom>
          <a:noFill/>
        </p:spPr>
        <p:txBody>
          <a:bodyPr wrap="square">
            <a:spAutoFit/>
          </a:bodyPr>
          <a:lstStyle/>
          <a:p>
            <a:pPr algn="l">
              <a:defRPr sz="1300" b="1">
                <a:solidFill>
                  <a:srgbClr val="FFFFFF"/>
                </a:solidFill>
                <a:latin typeface="Calibri"/>
              </a:defRPr>
            </a:pPr>
            <a:r>
              <a:t>Visualization</a:t>
            </a:r>
          </a:p>
        </p:txBody>
      </p:sp>
      <p:sp>
        <p:nvSpPr>
          <p:cNvPr id="17" name="TextBox 16"/>
          <p:cNvSpPr txBox="1"/>
          <p:nvPr/>
        </p:nvSpPr>
        <p:spPr>
          <a:xfrm>
            <a:off x="3200400" y="3337560"/>
            <a:ext cx="8229600" cy="320040"/>
          </a:xfrm>
          <a:prstGeom prst="rect">
            <a:avLst/>
          </a:prstGeom>
          <a:noFill/>
        </p:spPr>
        <p:txBody>
          <a:bodyPr wrap="square">
            <a:spAutoFit/>
          </a:bodyPr>
          <a:lstStyle/>
          <a:p>
            <a:pPr algn="l">
              <a:defRPr sz="1200" b="0">
                <a:solidFill>
                  <a:srgbClr val="CCCCCC"/>
                </a:solidFill>
                <a:latin typeface="Calibri"/>
              </a:defRPr>
            </a:pPr>
            <a:r>
              <a:t>Three.js — WebGL 3D HNSW graph visualization</a:t>
            </a:r>
          </a:p>
        </p:txBody>
      </p:sp>
      <p:sp>
        <p:nvSpPr>
          <p:cNvPr id="18" name="TextBox 17"/>
          <p:cNvSpPr txBox="1"/>
          <p:nvPr/>
        </p:nvSpPr>
        <p:spPr>
          <a:xfrm>
            <a:off x="1097280" y="3657600"/>
            <a:ext cx="1828800" cy="320040"/>
          </a:xfrm>
          <a:prstGeom prst="rect">
            <a:avLst/>
          </a:prstGeom>
          <a:noFill/>
        </p:spPr>
        <p:txBody>
          <a:bodyPr wrap="square">
            <a:spAutoFit/>
          </a:bodyPr>
          <a:lstStyle/>
          <a:p>
            <a:pPr algn="l">
              <a:defRPr sz="1300" b="1">
                <a:solidFill>
                  <a:srgbClr val="FFFFFF"/>
                </a:solidFill>
                <a:latin typeface="Calibri"/>
              </a:defRPr>
            </a:pPr>
            <a:r>
              <a:t>Containerization</a:t>
            </a:r>
          </a:p>
        </p:txBody>
      </p:sp>
      <p:sp>
        <p:nvSpPr>
          <p:cNvPr id="19" name="TextBox 18"/>
          <p:cNvSpPr txBox="1"/>
          <p:nvPr/>
        </p:nvSpPr>
        <p:spPr>
          <a:xfrm>
            <a:off x="3200400" y="3657600"/>
            <a:ext cx="8229600" cy="320040"/>
          </a:xfrm>
          <a:prstGeom prst="rect">
            <a:avLst/>
          </a:prstGeom>
          <a:noFill/>
        </p:spPr>
        <p:txBody>
          <a:bodyPr wrap="square">
            <a:spAutoFit/>
          </a:bodyPr>
          <a:lstStyle/>
          <a:p>
            <a:pPr algn="l">
              <a:defRPr sz="1200" b="0">
                <a:solidFill>
                  <a:srgbClr val="CCCCCC"/>
                </a:solidFill>
                <a:latin typeface="Calibri"/>
              </a:defRPr>
            </a:pPr>
            <a:r>
              <a:t>Docker Compose — Multi-service orchestration</a:t>
            </a:r>
          </a:p>
        </p:txBody>
      </p:sp>
      <p:sp>
        <p:nvSpPr>
          <p:cNvPr id="20" name="TextBox 19"/>
          <p:cNvSpPr txBox="1"/>
          <p:nvPr/>
        </p:nvSpPr>
        <p:spPr>
          <a:xfrm>
            <a:off x="731520" y="4251960"/>
            <a:ext cx="9144000" cy="457200"/>
          </a:xfrm>
          <a:prstGeom prst="rect">
            <a:avLst/>
          </a:prstGeom>
          <a:noFill/>
        </p:spPr>
        <p:txBody>
          <a:bodyPr wrap="square">
            <a:spAutoFit/>
          </a:bodyPr>
          <a:lstStyle/>
          <a:p>
            <a:pPr algn="l">
              <a:defRPr sz="2000" b="1">
                <a:solidFill>
                  <a:srgbClr val="4F9DF7"/>
                </a:solidFill>
                <a:latin typeface="Calibri"/>
              </a:defRPr>
            </a:pPr>
            <a:r>
              <a:t>Key References</a:t>
            </a:r>
          </a:p>
        </p:txBody>
      </p:sp>
      <p:sp>
        <p:nvSpPr>
          <p:cNvPr id="21" name="TextBox 20"/>
          <p:cNvSpPr txBox="1"/>
          <p:nvPr/>
        </p:nvSpPr>
        <p:spPr>
          <a:xfrm>
            <a:off x="1097280" y="4709160"/>
            <a:ext cx="1828800" cy="320040"/>
          </a:xfrm>
          <a:prstGeom prst="rect">
            <a:avLst/>
          </a:prstGeom>
          <a:noFill/>
        </p:spPr>
        <p:txBody>
          <a:bodyPr wrap="square">
            <a:spAutoFit/>
          </a:bodyPr>
          <a:lstStyle/>
          <a:p>
            <a:pPr algn="l">
              <a:defRPr sz="1300" b="1">
                <a:solidFill>
                  <a:srgbClr val="FFFFFF"/>
                </a:solidFill>
                <a:latin typeface="Calibri"/>
              </a:defRPr>
            </a:pPr>
            <a:r>
              <a:t>HNSW Paper</a:t>
            </a:r>
          </a:p>
        </p:txBody>
      </p:sp>
      <p:sp>
        <p:nvSpPr>
          <p:cNvPr id="22" name="TextBox 21"/>
          <p:cNvSpPr txBox="1"/>
          <p:nvPr/>
        </p:nvSpPr>
        <p:spPr>
          <a:xfrm>
            <a:off x="3200400" y="4709160"/>
            <a:ext cx="8229600" cy="320040"/>
          </a:xfrm>
          <a:prstGeom prst="rect">
            <a:avLst/>
          </a:prstGeom>
          <a:noFill/>
        </p:spPr>
        <p:txBody>
          <a:bodyPr wrap="square">
            <a:spAutoFit/>
          </a:bodyPr>
          <a:lstStyle/>
          <a:p>
            <a:pPr algn="l">
              <a:defRPr sz="1200" b="0">
                <a:solidFill>
                  <a:srgbClr val="CCCCCC"/>
                </a:solidFill>
                <a:latin typeface="Calibri"/>
              </a:defRPr>
            </a:pPr>
            <a:r>
              <a:t>Malkov &amp; Yashunin, 'Efficient and robust approximate nearest neighbor using HNSW graphs', IEEE TPAMI 2018</a:t>
            </a:r>
          </a:p>
        </p:txBody>
      </p:sp>
      <p:sp>
        <p:nvSpPr>
          <p:cNvPr id="23" name="TextBox 22"/>
          <p:cNvSpPr txBox="1"/>
          <p:nvPr/>
        </p:nvSpPr>
        <p:spPr>
          <a:xfrm>
            <a:off x="1097280" y="5029200"/>
            <a:ext cx="1828800" cy="320040"/>
          </a:xfrm>
          <a:prstGeom prst="rect">
            <a:avLst/>
          </a:prstGeom>
          <a:noFill/>
        </p:spPr>
        <p:txBody>
          <a:bodyPr wrap="square">
            <a:spAutoFit/>
          </a:bodyPr>
          <a:lstStyle/>
          <a:p>
            <a:pPr algn="l">
              <a:defRPr sz="1300" b="1">
                <a:solidFill>
                  <a:srgbClr val="FFFFFF"/>
                </a:solidFill>
                <a:latin typeface="Calibri"/>
              </a:defRPr>
            </a:pPr>
            <a:r>
              <a:t>MSP Data</a:t>
            </a:r>
          </a:p>
        </p:txBody>
      </p:sp>
      <p:sp>
        <p:nvSpPr>
          <p:cNvPr id="24" name="TextBox 23"/>
          <p:cNvSpPr txBox="1"/>
          <p:nvPr/>
        </p:nvSpPr>
        <p:spPr>
          <a:xfrm>
            <a:off x="3200400" y="5029200"/>
            <a:ext cx="8229600" cy="320040"/>
          </a:xfrm>
          <a:prstGeom prst="rect">
            <a:avLst/>
          </a:prstGeom>
          <a:noFill/>
        </p:spPr>
        <p:txBody>
          <a:bodyPr wrap="square">
            <a:spAutoFit/>
          </a:bodyPr>
          <a:lstStyle/>
          <a:p>
            <a:pPr algn="l">
              <a:defRPr sz="1200" b="0">
                <a:solidFill>
                  <a:srgbClr val="CCCCCC"/>
                </a:solidFill>
                <a:latin typeface="Calibri"/>
              </a:defRPr>
            </a:pPr>
            <a:r>
              <a:t>Government of India — Ministry of Agriculture &amp; Farmers' Welfare, MSP rates 2024-25</a:t>
            </a:r>
          </a:p>
        </p:txBody>
      </p:sp>
      <p:sp>
        <p:nvSpPr>
          <p:cNvPr id="25" name="TextBox 24"/>
          <p:cNvSpPr txBox="1"/>
          <p:nvPr/>
        </p:nvSpPr>
        <p:spPr>
          <a:xfrm>
            <a:off x="1097280" y="5349240"/>
            <a:ext cx="1828800" cy="320040"/>
          </a:xfrm>
          <a:prstGeom prst="rect">
            <a:avLst/>
          </a:prstGeom>
          <a:noFill/>
        </p:spPr>
        <p:txBody>
          <a:bodyPr wrap="square">
            <a:spAutoFit/>
          </a:bodyPr>
          <a:lstStyle/>
          <a:p>
            <a:pPr algn="l">
              <a:defRPr sz="1300" b="1">
                <a:solidFill>
                  <a:srgbClr val="FFFFFF"/>
                </a:solidFill>
                <a:latin typeface="Calibri"/>
              </a:defRPr>
            </a:pPr>
            <a:r>
              <a:t>Haversine</a:t>
            </a:r>
          </a:p>
        </p:txBody>
      </p:sp>
      <p:sp>
        <p:nvSpPr>
          <p:cNvPr id="26" name="TextBox 25"/>
          <p:cNvSpPr txBox="1"/>
          <p:nvPr/>
        </p:nvSpPr>
        <p:spPr>
          <a:xfrm>
            <a:off x="3200400" y="5349240"/>
            <a:ext cx="8229600" cy="320040"/>
          </a:xfrm>
          <a:prstGeom prst="rect">
            <a:avLst/>
          </a:prstGeom>
          <a:noFill/>
        </p:spPr>
        <p:txBody>
          <a:bodyPr wrap="square">
            <a:spAutoFit/>
          </a:bodyPr>
          <a:lstStyle/>
          <a:p>
            <a:pPr algn="l">
              <a:defRPr sz="1200" b="0">
                <a:solidFill>
                  <a:srgbClr val="CCCCCC"/>
                </a:solidFill>
                <a:latin typeface="Calibri"/>
              </a:defRPr>
            </a:pPr>
            <a:r>
              <a:t>Great-circle distance formula for geospatial proximity calculation</a:t>
            </a:r>
          </a:p>
        </p:txBody>
      </p:sp>
      <p:sp>
        <p:nvSpPr>
          <p:cNvPr id="27" name="TextBox 26"/>
          <p:cNvSpPr txBox="1"/>
          <p:nvPr/>
        </p:nvSpPr>
        <p:spPr>
          <a:xfrm>
            <a:off x="1097280" y="5669280"/>
            <a:ext cx="1828800" cy="320040"/>
          </a:xfrm>
          <a:prstGeom prst="rect">
            <a:avLst/>
          </a:prstGeom>
          <a:noFill/>
        </p:spPr>
        <p:txBody>
          <a:bodyPr wrap="square">
            <a:spAutoFit/>
          </a:bodyPr>
          <a:lstStyle/>
          <a:p>
            <a:pPr algn="l">
              <a:defRPr sz="1300" b="1">
                <a:solidFill>
                  <a:srgbClr val="FFFFFF"/>
                </a:solidFill>
                <a:latin typeface="Calibri"/>
              </a:defRPr>
            </a:pPr>
            <a:r>
              <a:t>Nominatim</a:t>
            </a:r>
          </a:p>
        </p:txBody>
      </p:sp>
      <p:sp>
        <p:nvSpPr>
          <p:cNvPr id="28" name="TextBox 27"/>
          <p:cNvSpPr txBox="1"/>
          <p:nvPr/>
        </p:nvSpPr>
        <p:spPr>
          <a:xfrm>
            <a:off x="3200400" y="5669280"/>
            <a:ext cx="8229600" cy="320040"/>
          </a:xfrm>
          <a:prstGeom prst="rect">
            <a:avLst/>
          </a:prstGeom>
          <a:noFill/>
        </p:spPr>
        <p:txBody>
          <a:bodyPr wrap="square">
            <a:spAutoFit/>
          </a:bodyPr>
          <a:lstStyle/>
          <a:p>
            <a:pPr algn="l">
              <a:defRPr sz="1200" b="0">
                <a:solidFill>
                  <a:srgbClr val="CCCCCC"/>
                </a:solidFill>
                <a:latin typeface="Calibri"/>
              </a:defRPr>
            </a:pPr>
            <a:r>
              <a:t>OpenStreetMap reverse geocoding API for human-readable location names</a:t>
            </a:r>
          </a:p>
        </p:txBody>
      </p:sp>
      <p:sp>
        <p:nvSpPr>
          <p:cNvPr id="29" name="Rectangle 28"/>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12/13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0"/>
            <a:ext cx="11247120" cy="1371600"/>
          </a:xfrm>
          <a:prstGeom prst="rect">
            <a:avLst/>
          </a:prstGeom>
          <a:noFill/>
        </p:spPr>
        <p:txBody>
          <a:bodyPr wrap="square">
            <a:spAutoFit/>
          </a:bodyPr>
          <a:lstStyle/>
          <a:p>
            <a:pPr algn="ctr">
              <a:defRPr sz="5600" b="1">
                <a:solidFill>
                  <a:srgbClr val="FFFFFF"/>
                </a:solidFill>
                <a:latin typeface="Calibri Light"/>
              </a:defRPr>
            </a:pPr>
            <a:r>
              <a:t>THANK YOU!</a:t>
            </a:r>
          </a:p>
        </p:txBody>
      </p:sp>
      <p:sp>
        <p:nvSpPr>
          <p:cNvPr id="4" name="Rectangle 3"/>
          <p:cNvSpPr/>
          <p:nvPr/>
        </p:nvSpPr>
        <p:spPr>
          <a:xfrm>
            <a:off x="5029200" y="3383280"/>
            <a:ext cx="210312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3840480"/>
            <a:ext cx="8229600" cy="548640"/>
          </a:xfrm>
          <a:prstGeom prst="rect">
            <a:avLst/>
          </a:prstGeom>
          <a:noFill/>
        </p:spPr>
        <p:txBody>
          <a:bodyPr wrap="square">
            <a:spAutoFit/>
          </a:bodyPr>
          <a:lstStyle/>
          <a:p>
            <a:pPr algn="ctr">
              <a:defRPr sz="1800" b="0">
                <a:solidFill>
                  <a:srgbClr val="CCCCCC"/>
                </a:solidFill>
                <a:latin typeface="Calibri"/>
              </a:defRPr>
            </a:pPr>
            <a:r>
              <a:t>AgriMatch — Connecting Farmers &amp; Merchants with AI-Powered Matching</a:t>
            </a:r>
          </a:p>
        </p:txBody>
      </p:sp>
      <p:sp>
        <p:nvSpPr>
          <p:cNvPr id="6" name="TextBox 5"/>
          <p:cNvSpPr txBox="1"/>
          <p:nvPr/>
        </p:nvSpPr>
        <p:spPr>
          <a:xfrm>
            <a:off x="1828800" y="4754880"/>
            <a:ext cx="8229600" cy="365760"/>
          </a:xfrm>
          <a:prstGeom prst="rect">
            <a:avLst/>
          </a:prstGeom>
          <a:noFill/>
        </p:spPr>
        <p:txBody>
          <a:bodyPr wrap="square">
            <a:spAutoFit/>
          </a:bodyPr>
          <a:lstStyle/>
          <a:p>
            <a:pPr algn="ctr">
              <a:defRPr sz="1400" b="0">
                <a:solidFill>
                  <a:srgbClr val="9999AA"/>
                </a:solidFill>
                <a:latin typeface="Calibri"/>
              </a:defRPr>
            </a:pPr>
            <a:r>
              <a:t>POTHARAJU SRINIVAS  •  ENDRAVATH KRISHNA</a:t>
            </a:r>
          </a:p>
        </p:txBody>
      </p:sp>
      <p:sp>
        <p:nvSpPr>
          <p:cNvPr id="7" name="TextBox 6"/>
          <p:cNvSpPr txBox="1"/>
          <p:nvPr/>
        </p:nvSpPr>
        <p:spPr>
          <a:xfrm>
            <a:off x="1828800" y="5120640"/>
            <a:ext cx="8229600" cy="365760"/>
          </a:xfrm>
          <a:prstGeom prst="rect">
            <a:avLst/>
          </a:prstGeom>
          <a:noFill/>
        </p:spPr>
        <p:txBody>
          <a:bodyPr wrap="square">
            <a:spAutoFit/>
          </a:bodyPr>
          <a:lstStyle/>
          <a:p>
            <a:pPr algn="ctr">
              <a:defRPr sz="1300" b="0">
                <a:solidFill>
                  <a:srgbClr val="9999AA"/>
                </a:solidFill>
                <a:latin typeface="Calibri"/>
              </a:defRPr>
            </a:pPr>
            <a:r>
              <a:t>Supervisor: DR. M SWAMY DAS  |  PID-36</a:t>
            </a:r>
          </a:p>
        </p:txBody>
      </p:sp>
      <p:sp>
        <p:nvSpPr>
          <p:cNvPr id="8" name="Rectangle 7"/>
          <p:cNvSpPr/>
          <p:nvPr/>
        </p:nvSpPr>
        <p:spPr>
          <a:xfrm>
            <a:off x="0" y="6583680"/>
            <a:ext cx="12191695" cy="27432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47120" y="6400800"/>
            <a:ext cx="914400" cy="365760"/>
          </a:xfrm>
          <a:prstGeom prst="rect">
            <a:avLst/>
          </a:prstGeom>
          <a:noFill/>
        </p:spPr>
        <p:txBody>
          <a:bodyPr wrap="square">
            <a:spAutoFit/>
          </a:bodyPr>
          <a:lstStyle/>
          <a:p>
            <a:pPr algn="r">
              <a:defRPr sz="1100" b="0">
                <a:solidFill>
                  <a:srgbClr val="9999AA"/>
                </a:solidFill>
                <a:latin typeface="Calibri"/>
              </a:defRPr>
            </a:pPr>
            <a:r>
              <a:t>13/13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